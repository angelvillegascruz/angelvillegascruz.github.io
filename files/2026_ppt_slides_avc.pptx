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91" r:id="rId5"/>
  </p:sldMasterIdLst>
  <p:notesMasterIdLst>
    <p:notesMasterId r:id="rId37"/>
  </p:notesMasterIdLst>
  <p:handoutMasterIdLst>
    <p:handoutMasterId r:id="rId38"/>
  </p:handoutMasterIdLst>
  <p:sldIdLst>
    <p:sldId id="924" r:id="rId6"/>
    <p:sldId id="925" r:id="rId7"/>
    <p:sldId id="926" r:id="rId8"/>
    <p:sldId id="927" r:id="rId9"/>
    <p:sldId id="928" r:id="rId10"/>
    <p:sldId id="929" r:id="rId11"/>
    <p:sldId id="930" r:id="rId12"/>
    <p:sldId id="936" r:id="rId13"/>
    <p:sldId id="935" r:id="rId14"/>
    <p:sldId id="931" r:id="rId15"/>
    <p:sldId id="933" r:id="rId16"/>
    <p:sldId id="932" r:id="rId17"/>
    <p:sldId id="934" r:id="rId18"/>
    <p:sldId id="939" r:id="rId19"/>
    <p:sldId id="953" r:id="rId20"/>
    <p:sldId id="937" r:id="rId21"/>
    <p:sldId id="938" r:id="rId22"/>
    <p:sldId id="940" r:id="rId23"/>
    <p:sldId id="942" r:id="rId24"/>
    <p:sldId id="941" r:id="rId25"/>
    <p:sldId id="945" r:id="rId26"/>
    <p:sldId id="946" r:id="rId27"/>
    <p:sldId id="944" r:id="rId28"/>
    <p:sldId id="943" r:id="rId29"/>
    <p:sldId id="951" r:id="rId30"/>
    <p:sldId id="947" r:id="rId31"/>
    <p:sldId id="948" r:id="rId32"/>
    <p:sldId id="949" r:id="rId33"/>
    <p:sldId id="950" r:id="rId34"/>
    <p:sldId id="952" r:id="rId35"/>
    <p:sldId id="421" r:id="rId3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1" userDrawn="1">
          <p15:clr>
            <a:srgbClr val="A4A3A4"/>
          </p15:clr>
        </p15:guide>
        <p15:guide id="2" pos="2213" userDrawn="1">
          <p15:clr>
            <a:srgbClr val="A4A3A4"/>
          </p15:clr>
        </p15:guide>
        <p15:guide id="3" orient="horz" pos="2947" userDrawn="1">
          <p15:clr>
            <a:srgbClr val="A4A3A4"/>
          </p15:clr>
        </p15:guide>
        <p15:guide id="4" pos="2209" userDrawn="1">
          <p15:clr>
            <a:srgbClr val="A4A3A4"/>
          </p15:clr>
        </p15:guide>
        <p15:guide id="5" orient="horz" pos="2932" userDrawn="1">
          <p15:clr>
            <a:srgbClr val="A4A3A4"/>
          </p15:clr>
        </p15:guide>
        <p15:guide id="6" orient="horz" pos="292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ts_local" initials="i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89"/>
    <a:srgbClr val="E26A54"/>
    <a:srgbClr val="003E74"/>
    <a:srgbClr val="F2F2F2"/>
    <a:srgbClr val="2F5897"/>
    <a:srgbClr val="FFFF66"/>
    <a:srgbClr val="FFFFCC"/>
    <a:srgbClr val="2C5D98"/>
    <a:srgbClr val="33CC33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6667" autoAdjust="0"/>
  </p:normalViewPr>
  <p:slideViewPr>
    <p:cSldViewPr>
      <p:cViewPr varScale="1">
        <p:scale>
          <a:sx n="83" d="100"/>
          <a:sy n="83" d="100"/>
        </p:scale>
        <p:origin x="133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3072" y="-77"/>
      </p:cViewPr>
      <p:guideLst>
        <p:guide orient="horz" pos="2951"/>
        <p:guide pos="2213"/>
        <p:guide orient="horz" pos="2947"/>
        <p:guide pos="2209"/>
        <p:guide orient="horz" pos="2932"/>
        <p:guide orient="horz"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" y="2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88" y="2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/>
          <a:lstStyle>
            <a:lvl1pPr algn="r">
              <a:defRPr sz="1200"/>
            </a:lvl1pPr>
          </a:lstStyle>
          <a:p>
            <a:fld id="{C5665B36-4B68-4038-B04C-4259637837E9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9" y="8829997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88" y="8829997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 anchor="b"/>
          <a:lstStyle>
            <a:lvl1pPr algn="r">
              <a:defRPr sz="1200"/>
            </a:lvl1pPr>
          </a:lstStyle>
          <a:p>
            <a:fld id="{D13542EC-0850-4146-A731-B7F0AE82D5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15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" y="2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188" y="2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/>
          <a:lstStyle>
            <a:lvl1pPr algn="r">
              <a:defRPr sz="1200"/>
            </a:lvl1pPr>
          </a:lstStyle>
          <a:p>
            <a:pPr>
              <a:defRPr/>
            </a:pPr>
            <a:fld id="{B899B9D9-9514-4BB5-BD1B-84C8C666A399}" type="datetimeFigureOut">
              <a:rPr lang="en-US"/>
              <a:pPr>
                <a:defRPr/>
              </a:pPr>
              <a:t>2/3/2026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89" tIns="46494" rIns="92989" bIns="4649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60" y="4415798"/>
            <a:ext cx="5607684" cy="4183380"/>
          </a:xfrm>
          <a:prstGeom prst="rect">
            <a:avLst/>
          </a:prstGeom>
        </p:spPr>
        <p:txBody>
          <a:bodyPr vert="horz" lIns="92989" tIns="46494" rIns="92989" bIns="4649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9" y="8829997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188" y="8829997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 anchor="b"/>
          <a:lstStyle>
            <a:lvl1pPr algn="r">
              <a:defRPr sz="1200"/>
            </a:lvl1pPr>
          </a:lstStyle>
          <a:p>
            <a:pPr>
              <a:defRPr/>
            </a:pPr>
            <a:fld id="{6DD86180-870F-4C4E-80A9-4C1C75E40D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73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39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196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185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685A-BE57-D9EB-8DA2-748ED3FC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D7384-F95B-069A-B682-43386B2A1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7C6AB-E4FE-2C56-A94F-9084CC416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DD2FD-9207-86FB-F78D-4AE533F21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4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27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646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030C-7792-FBD1-14B5-65E55E10E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381C-2A45-9844-53C0-B2D2CF655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B3A0D-90C8-7865-9E89-B73D89FE5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07AD7-BCB8-7C2D-0EFE-6BE8CFA20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3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869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159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885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356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816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432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877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78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ctr">
              <a:spcAft>
                <a:spcPts val="1500"/>
              </a:spcAft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92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09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52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233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32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8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DD6B2A-C175-E778-7311-0D184D298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40"/>
            <a:ext cx="9144000" cy="6858000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936799A-742E-D2DA-D2AD-97CBD5F3E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17" y="442845"/>
            <a:ext cx="2272129" cy="7122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552E-1ADB-0E93-26F9-B937B7EFF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917" y="2139731"/>
            <a:ext cx="3684538" cy="23876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9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BDBCC-016C-5EB1-F7D9-F7C7C8CF0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17" y="4619407"/>
            <a:ext cx="3241885" cy="1206359"/>
          </a:xfrm>
        </p:spPr>
        <p:txBody>
          <a:bodyPr>
            <a:normAutofit/>
          </a:bodyPr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9E15F6-2E81-A617-637F-E959777D7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47462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bg1"/>
                </a:solidFill>
              </a:defRPr>
            </a:lvl1pPr>
          </a:lstStyle>
          <a:p>
            <a:fld id="{6D9A7562-078F-0443-99CB-13A7936AC4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8603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DD6B2A-C175-E778-7311-0D184D298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4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19552E-1ADB-0E93-26F9-B937B7EFF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917" y="2139731"/>
            <a:ext cx="3684538" cy="23876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9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0D8C48-42D3-A3E0-D36B-1EFFE2353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17" y="4619407"/>
            <a:ext cx="3241885" cy="1206359"/>
          </a:xfrm>
        </p:spPr>
        <p:txBody>
          <a:bodyPr>
            <a:normAutofit/>
          </a:bodyPr>
          <a:lstStyle>
            <a:lvl1pPr marL="0" indent="0" algn="l">
              <a:buNone/>
              <a:defRPr sz="2100" b="0" i="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936A6E9-1BEB-6E38-737D-30AD7F6B1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47462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bg1"/>
                </a:solidFill>
              </a:defRPr>
            </a:lvl1pPr>
          </a:lstStyle>
          <a:p>
            <a:fld id="{6D9A7562-078F-0443-99CB-13A7936AC4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0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FB35-BA48-F6F7-E610-F17CA357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8FFB-4FBB-EDA4-1914-6BBB4FD5F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8147D-D362-381F-869D-FA4B7D9E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9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C331F1-64CB-79D7-74A3-0EB8E47B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" b="43"/>
          <a:stretch/>
        </p:blipFill>
        <p:spPr>
          <a:xfrm>
            <a:off x="-1" y="0"/>
            <a:ext cx="9144001" cy="6858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CFDE23-91D5-093A-FD75-70E529EF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960" y="1782503"/>
            <a:ext cx="4532081" cy="2852737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9FA20-489B-F4BF-4573-47F0D0D6F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753749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B4F27-F16C-9AD2-1A91-57598A415380}"/>
              </a:ext>
            </a:extLst>
          </p:cNvPr>
          <p:cNvSpPr txBox="1"/>
          <p:nvPr/>
        </p:nvSpPr>
        <p:spPr>
          <a:xfrm>
            <a:off x="247103" y="6536106"/>
            <a:ext cx="2057400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spc="225" dirty="0">
                <a:solidFill>
                  <a:schemeClr val="bg1"/>
                </a:solidFill>
              </a:rPr>
              <a:t>UNIVERSITY OF ROCHESTER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DBCF-B013-3250-304D-A0EB7FEB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7462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9A7562-078F-0443-99CB-13A7936AC4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9963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C331F1-64CB-79D7-74A3-0EB8E47BA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" b="43"/>
          <a:stretch/>
        </p:blipFill>
        <p:spPr>
          <a:xfrm>
            <a:off x="-1" y="0"/>
            <a:ext cx="9144001" cy="6858480"/>
          </a:xfrm>
          <a:prstGeom prst="rect">
            <a:avLst/>
          </a:prstGeom>
        </p:spPr>
      </p:pic>
      <p:pic>
        <p:nvPicPr>
          <p:cNvPr id="10" name="University of Rochester shield">
            <a:extLst>
              <a:ext uri="{FF2B5EF4-FFF2-40B4-BE49-F238E27FC236}">
                <a16:creationId xmlns:a16="http://schemas.microsoft.com/office/drawing/2014/main" id="{46C34805-A26A-B0DE-64FD-6C68FE36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411" y="772223"/>
            <a:ext cx="511654" cy="8917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CFDE23-91D5-093A-FD75-70E529EF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960" y="1782503"/>
            <a:ext cx="4532081" cy="2852737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bg1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9FA20-489B-F4BF-4573-47F0D0D6F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753749"/>
            <a:ext cx="7886700" cy="67609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B4F27-F16C-9AD2-1A91-57598A415380}"/>
              </a:ext>
            </a:extLst>
          </p:cNvPr>
          <p:cNvSpPr txBox="1"/>
          <p:nvPr/>
        </p:nvSpPr>
        <p:spPr>
          <a:xfrm>
            <a:off x="247103" y="6536106"/>
            <a:ext cx="2057400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spc="225" dirty="0">
                <a:solidFill>
                  <a:schemeClr val="bg1"/>
                </a:solidFill>
              </a:rPr>
              <a:t>UNIVERSITY OF ROCHESTER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DBCF-B013-3250-304D-A0EB7FEB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7462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9A7562-078F-0443-99CB-13A7936AC4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9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yellow background with white symbols&#10;&#10;AI-generated content may be incorrect.">
            <a:extLst>
              <a:ext uri="{FF2B5EF4-FFF2-40B4-BE49-F238E27FC236}">
                <a16:creationId xmlns:a16="http://schemas.microsoft.com/office/drawing/2014/main" id="{6EF3FE7E-3C98-D558-F8EC-BAB852635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"/>
            <a:ext cx="9144000" cy="68544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CFDE23-91D5-093A-FD75-70E529EF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365" y="2621286"/>
            <a:ext cx="4127269" cy="1615428"/>
          </a:xfrm>
          <a:solidFill>
            <a:srgbClr val="FFD82B"/>
          </a:solidFill>
        </p:spPr>
        <p:txBody>
          <a:bodyPr anchor="ctr" anchorCtr="0">
            <a:normAutofit/>
          </a:bodyPr>
          <a:lstStyle>
            <a:lvl1pPr algn="ctr">
              <a:defRPr sz="4050">
                <a:solidFill>
                  <a:srgbClr val="001E5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46718-6135-FA62-B697-F81F62D0080F}"/>
              </a:ext>
            </a:extLst>
          </p:cNvPr>
          <p:cNvSpPr txBox="1"/>
          <p:nvPr/>
        </p:nvSpPr>
        <p:spPr>
          <a:xfrm>
            <a:off x="247103" y="6536106"/>
            <a:ext cx="2057400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spc="225" dirty="0">
                <a:solidFill>
                  <a:schemeClr val="bg1">
                    <a:lumMod val="50000"/>
                  </a:schemeClr>
                </a:solidFill>
              </a:rPr>
              <a:t>UNIVERSITY OF ROCHESTER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0DBCF-B013-3250-304D-A0EB7FEB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74621"/>
            <a:ext cx="2057400" cy="365125"/>
          </a:xfrm>
        </p:spPr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263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bg>
      <p:bgPr>
        <a:solidFill>
          <a:srgbClr val="FFD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FB35-BA48-F6F7-E610-F17CA357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ED5063D-FDE3-4912-2EC7-1C3730DB306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75781" y="1572106"/>
            <a:ext cx="873691" cy="517639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100">
                <a:solidFill>
                  <a:srgbClr val="001E5F"/>
                </a:solidFill>
                <a:latin typeface="Georgia" panose="02040502050405020303" pitchFamily="18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8FFB-4FBB-EDA4-1914-6BBB4FD5FD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56151" y="1572106"/>
            <a:ext cx="6839210" cy="517639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001E5F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Table of Contents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FB1DEB9-00AD-E69F-FD86-EA96B9A88AD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75781" y="2293156"/>
            <a:ext cx="873691" cy="517639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100">
                <a:solidFill>
                  <a:srgbClr val="001E5F"/>
                </a:solidFill>
                <a:latin typeface="Georgia" panose="02040502050405020303" pitchFamily="18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7E296D-B5F7-FF47-EE43-1E4BDD463F4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456151" y="2293156"/>
            <a:ext cx="6839210" cy="517639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001E5F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Table of Contents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830301-B4CF-9D0C-F41D-E2AB025B3AB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75781" y="3036734"/>
            <a:ext cx="873691" cy="517639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100">
                <a:solidFill>
                  <a:srgbClr val="001E5F"/>
                </a:solidFill>
                <a:latin typeface="Georgia" panose="02040502050405020303" pitchFamily="18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340220A-A6E7-289B-F1EE-16C6F04C7CF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456151" y="3036734"/>
            <a:ext cx="6839210" cy="517639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001E5F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Table of Contents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166825C-0597-5BFE-6DA5-4B7ABB903187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75781" y="3734085"/>
            <a:ext cx="873691" cy="517639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100">
                <a:solidFill>
                  <a:srgbClr val="001E5F"/>
                </a:solidFill>
                <a:latin typeface="Georgia" panose="02040502050405020303" pitchFamily="18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52CB3A-FEF0-C1C8-E93D-3087B96118E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456151" y="3734085"/>
            <a:ext cx="6839210" cy="517639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001E5F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Table of Contents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8CA45BA-6579-83FF-ED28-04184B6E7178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75781" y="4449551"/>
            <a:ext cx="873691" cy="517639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100">
                <a:solidFill>
                  <a:srgbClr val="001E5F"/>
                </a:solidFill>
                <a:latin typeface="Georgia" panose="02040502050405020303" pitchFamily="18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5DCA98-E553-18B8-ED16-6D670065193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456151" y="4449551"/>
            <a:ext cx="6839210" cy="517639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001E5F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Table of Contents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648FE27-6891-2782-F32F-635D1687C85E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75781" y="5105633"/>
            <a:ext cx="873691" cy="517639"/>
          </a:xfrm>
        </p:spPr>
        <p:txBody>
          <a:bodyPr anchor="ctr" anchorCtr="0">
            <a:normAutofit/>
          </a:bodyPr>
          <a:lstStyle>
            <a:lvl1pPr marL="0" indent="0" algn="r">
              <a:buNone/>
              <a:defRPr sz="2100">
                <a:solidFill>
                  <a:srgbClr val="001E5F"/>
                </a:solidFill>
                <a:latin typeface="Georgia" panose="02040502050405020303" pitchFamily="18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C146F2F-6C2A-D5B8-CB42-12499968D47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456151" y="5105633"/>
            <a:ext cx="6839210" cy="517639"/>
          </a:xfrm>
        </p:spPr>
        <p:txBody>
          <a:bodyPr anchor="ctr" anchorCtr="0"/>
          <a:lstStyle>
            <a:lvl1pPr marL="0" indent="0">
              <a:buNone/>
              <a:defRPr>
                <a:solidFill>
                  <a:srgbClr val="001E5F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Table of Contents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FF6015-FA3F-7611-E838-49FBD14E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74621"/>
            <a:ext cx="2057400" cy="365125"/>
          </a:xfrm>
        </p:spPr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238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">
    <p:bg>
      <p:bgPr>
        <a:solidFill>
          <a:srgbClr val="FFF3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79D611-5217-4540-A083-44E5C44A63B4}"/>
              </a:ext>
            </a:extLst>
          </p:cNvPr>
          <p:cNvSpPr/>
          <p:nvPr/>
        </p:nvSpPr>
        <p:spPr>
          <a:xfrm>
            <a:off x="0" y="1"/>
            <a:ext cx="9144000" cy="6839745"/>
          </a:xfrm>
          <a:prstGeom prst="rect">
            <a:avLst/>
          </a:prstGeom>
          <a:solidFill>
            <a:srgbClr val="013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1CD6D-6F74-61A2-C2AC-DD3A232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7" y="400610"/>
            <a:ext cx="3319472" cy="1325563"/>
          </a:xfrm>
        </p:spPr>
        <p:txBody>
          <a:bodyPr>
            <a:normAutofit/>
          </a:bodyPr>
          <a:lstStyle>
            <a:lvl1pPr>
              <a:defRPr sz="3300">
                <a:solidFill>
                  <a:srgbClr val="FFD82D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78F9EE-3521-97D7-574B-8F7383A73F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7648" y="378687"/>
            <a:ext cx="5194909" cy="1371390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8A98EC-9C9D-B1D1-3681-2ED95F02DC27}"/>
              </a:ext>
            </a:extLst>
          </p:cNvPr>
          <p:cNvCxnSpPr>
            <a:cxnSpLocks/>
          </p:cNvCxnSpPr>
          <p:nvPr/>
        </p:nvCxnSpPr>
        <p:spPr>
          <a:xfrm>
            <a:off x="0" y="2094619"/>
            <a:ext cx="9382539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E0661FE1-D3C4-7EC4-5078-29AB39C6262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9958" y="2439163"/>
            <a:ext cx="529919" cy="437639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DEB8065-8EF9-503B-A498-8C7C47A401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0520" y="2961619"/>
            <a:ext cx="1575344" cy="67735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D82D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E345753-DFBC-756F-1D61-7A4BB6E6FA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520" y="3728573"/>
            <a:ext cx="1575344" cy="207833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Content Placeholder 11">
            <a:extLst>
              <a:ext uri="{FF2B5EF4-FFF2-40B4-BE49-F238E27FC236}">
                <a16:creationId xmlns:a16="http://schemas.microsoft.com/office/drawing/2014/main" id="{FECD5C60-E99F-0409-8D4C-9988E9BE8DB3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073391" y="2439163"/>
            <a:ext cx="529919" cy="437639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15" name="Content Placeholder 11">
            <a:extLst>
              <a:ext uri="{FF2B5EF4-FFF2-40B4-BE49-F238E27FC236}">
                <a16:creationId xmlns:a16="http://schemas.microsoft.com/office/drawing/2014/main" id="{412A80A0-C576-4A11-AF85-B5F84DBD6E0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084084" y="2961619"/>
            <a:ext cx="1575344" cy="67735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D82D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73C08866-8817-5D54-2CFB-3164EAD81B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084084" y="3728573"/>
            <a:ext cx="1575344" cy="207833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ontent Placeholder 11">
            <a:extLst>
              <a:ext uri="{FF2B5EF4-FFF2-40B4-BE49-F238E27FC236}">
                <a16:creationId xmlns:a16="http://schemas.microsoft.com/office/drawing/2014/main" id="{8A908875-FA07-C68A-BF31-BDC3260A28A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815239" y="2439163"/>
            <a:ext cx="529919" cy="437639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7" name="Content Placeholder 11">
            <a:extLst>
              <a:ext uri="{FF2B5EF4-FFF2-40B4-BE49-F238E27FC236}">
                <a16:creationId xmlns:a16="http://schemas.microsoft.com/office/drawing/2014/main" id="{BAC1378D-890A-EFC5-282E-84F7C68BBB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827648" y="2961619"/>
            <a:ext cx="1575344" cy="67735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D82D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FA0637C-C618-9511-5260-FE222A1B7D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7648" y="3728573"/>
            <a:ext cx="1575344" cy="207833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Content Placeholder 11">
            <a:extLst>
              <a:ext uri="{FF2B5EF4-FFF2-40B4-BE49-F238E27FC236}">
                <a16:creationId xmlns:a16="http://schemas.microsoft.com/office/drawing/2014/main" id="{D4E06DE5-B2BD-B39A-899F-B5C8F75C44E6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561293" y="2439163"/>
            <a:ext cx="529919" cy="437639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9" name="Content Placeholder 11">
            <a:extLst>
              <a:ext uri="{FF2B5EF4-FFF2-40B4-BE49-F238E27FC236}">
                <a16:creationId xmlns:a16="http://schemas.microsoft.com/office/drawing/2014/main" id="{BC209260-0690-3E83-C0EA-48BC7E33856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571212" y="2961619"/>
            <a:ext cx="1575344" cy="67735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D82D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D84B46CE-B58F-E66F-59BE-A42F252595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71212" y="3728573"/>
            <a:ext cx="1575344" cy="207833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Content Placeholder 11">
            <a:extLst>
              <a:ext uri="{FF2B5EF4-FFF2-40B4-BE49-F238E27FC236}">
                <a16:creationId xmlns:a16="http://schemas.microsoft.com/office/drawing/2014/main" id="{78C2073B-96D9-A705-7FEF-997CC496221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307348" y="2439163"/>
            <a:ext cx="529919" cy="437639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21" name="Content Placeholder 11">
            <a:extLst>
              <a:ext uri="{FF2B5EF4-FFF2-40B4-BE49-F238E27FC236}">
                <a16:creationId xmlns:a16="http://schemas.microsoft.com/office/drawing/2014/main" id="{85D557FE-392A-864B-96C1-0B06AB83D8D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314776" y="2961619"/>
            <a:ext cx="1575344" cy="677353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FFD82D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1">
            <a:extLst>
              <a:ext uri="{FF2B5EF4-FFF2-40B4-BE49-F238E27FC236}">
                <a16:creationId xmlns:a16="http://schemas.microsoft.com/office/drawing/2014/main" id="{9EF0E9C6-2E03-B67C-BCDE-0338BD8D6EF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314776" y="3728573"/>
            <a:ext cx="1575344" cy="207833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1376A-7810-4A47-62EE-E0304790086E}"/>
              </a:ext>
            </a:extLst>
          </p:cNvPr>
          <p:cNvSpPr txBox="1"/>
          <p:nvPr/>
        </p:nvSpPr>
        <p:spPr>
          <a:xfrm>
            <a:off x="247103" y="6536106"/>
            <a:ext cx="2057400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spc="225" dirty="0">
                <a:solidFill>
                  <a:schemeClr val="bg1"/>
                </a:solidFill>
              </a:rPr>
              <a:t>UNIVERSITY OF ROCHESTER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E8D19A-1E2F-E501-0CD9-451738C69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86600" y="6474621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9A7562-078F-0443-99CB-13A7936AC4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10720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EA22-24B8-F106-802A-AB853663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56AE1-82F6-A27F-D6EE-66ED9B9A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9956" y="1676341"/>
            <a:ext cx="3886200" cy="39797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2C065-ABA8-9494-BED1-0830B556C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0456" y="1676341"/>
            <a:ext cx="3886200" cy="39797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C2194-D0A2-EC36-CE20-14F56780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0317" y="6474621"/>
            <a:ext cx="463683" cy="365125"/>
          </a:xfrm>
        </p:spPr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5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EA22-24B8-F106-802A-AB853663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6" y="348852"/>
            <a:ext cx="38862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56AE1-82F6-A27F-D6EE-66ED9B9A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9956" y="1676341"/>
            <a:ext cx="3886200" cy="3960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56D12FE-80CC-9C5E-CDAC-BCCAB2EEA1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1"/>
            <a:ext cx="3728545" cy="68579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C2194-D0A2-EC36-CE20-14F56780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4550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EA22-24B8-F106-802A-AB8536631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7" y="348852"/>
            <a:ext cx="3374794" cy="1467248"/>
          </a:xfrm>
        </p:spPr>
        <p:txBody>
          <a:bodyPr>
            <a:norm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04B56AE1-82F6-A27F-D6EE-66ED9B9A6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9957" y="1943101"/>
            <a:ext cx="3374794" cy="1028759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B4F5E3C5-0B41-B72D-8EA6-EE5CE2143C7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39957" y="3098859"/>
            <a:ext cx="3374794" cy="1454944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3600">
                <a:solidFill>
                  <a:srgbClr val="001E5F"/>
                </a:solidFill>
                <a:latin typeface="Aptos Display" panose="020B0004020202020204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AD8B5C-3C6E-D68C-B846-ABD765BAF8D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39957" y="4655404"/>
            <a:ext cx="3374794" cy="1028759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13A5D9F-96B4-9B1F-0914-72B54AC53CC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288069" y="348854"/>
            <a:ext cx="3762375" cy="5335309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C2194-D0A2-EC36-CE20-14F56780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3127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F371-528F-0113-4E79-25DA2A3E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7" y="348853"/>
            <a:ext cx="3999503" cy="1432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2974E15-7FCE-83C0-E5B4-4633C9B071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18256"/>
            <a:ext cx="4572000" cy="683974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784DC-6E1B-BB0E-4741-BE3223BC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2294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A3095-388C-26AF-3995-C59E9408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A7562-078F-0443-99CB-13A7936AC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9EC1-3B01-B796-3303-D56BFF03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7" y="348852"/>
            <a:ext cx="2584219" cy="19879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734FAC6B-DE8A-C0B0-226A-38183340452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333751" y="348852"/>
            <a:ext cx="4892906" cy="5620148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DE876C-A1EF-F49A-1490-3CEDAB811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A7562-078F-0443-99CB-13A7936AC4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99047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4A02D0-9DAA-20AB-488B-D6A8D996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56" y="34885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49C07-F5E3-2146-4EC9-478FD9B42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956" y="1674416"/>
            <a:ext cx="7886700" cy="3991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FBCC5-799D-2E9A-5C16-29F700FE5406}"/>
              </a:ext>
            </a:extLst>
          </p:cNvPr>
          <p:cNvSpPr txBox="1"/>
          <p:nvPr/>
        </p:nvSpPr>
        <p:spPr>
          <a:xfrm>
            <a:off x="247103" y="6536106"/>
            <a:ext cx="2057400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spc="225" dirty="0">
                <a:solidFill>
                  <a:schemeClr val="bg1">
                    <a:lumMod val="50000"/>
                  </a:schemeClr>
                </a:solidFill>
              </a:rPr>
              <a:t>UNIVERSITY OF ROCHESTER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79466A-DD57-D698-44A9-59D79770651C}"/>
              </a:ext>
            </a:extLst>
          </p:cNvPr>
          <p:cNvSpPr/>
          <p:nvPr/>
        </p:nvSpPr>
        <p:spPr>
          <a:xfrm>
            <a:off x="8300545" y="-18255"/>
            <a:ext cx="843455" cy="6876256"/>
          </a:xfrm>
          <a:prstGeom prst="rect">
            <a:avLst/>
          </a:prstGeom>
          <a:solidFill>
            <a:srgbClr val="FFD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144A88-8576-DD5F-50CF-3E8EE77998D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87773" y="5834378"/>
            <a:ext cx="468999" cy="82280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A45BA-63DC-4422-B485-98CB1F6C1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65055" y="6474621"/>
            <a:ext cx="463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rgbClr val="001E5F"/>
                </a:solidFill>
              </a:defRPr>
            </a:lvl1pPr>
          </a:lstStyle>
          <a:p>
            <a:pPr>
              <a:defRPr/>
            </a:pPr>
            <a:fld id="{E232E420-7A3D-42C3-8264-B5BCFC0A39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8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2" r:id="rId1"/>
    <p:sldLayoutId id="2147484393" r:id="rId2"/>
    <p:sldLayoutId id="2147484394" r:id="rId3"/>
    <p:sldLayoutId id="2147484395" r:id="rId4"/>
    <p:sldLayoutId id="2147484396" r:id="rId5"/>
    <p:sldLayoutId id="2147484397" r:id="rId6"/>
    <p:sldLayoutId id="2147484398" r:id="rId7"/>
    <p:sldLayoutId id="2147484399" r:id="rId8"/>
    <p:sldLayoutId id="2147484400" r:id="rId9"/>
    <p:sldLayoutId id="2147484401" r:id="rId10"/>
    <p:sldLayoutId id="2147484402" r:id="rId11"/>
    <p:sldLayoutId id="2147484403" r:id="rId12"/>
    <p:sldLayoutId id="2147484404" r:id="rId13"/>
    <p:sldLayoutId id="2147484405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i="0" kern="1200">
          <a:solidFill>
            <a:srgbClr val="001E5F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1AC2"/>
        </a:buClr>
        <a:buSzPct val="8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1AC2"/>
        </a:buClr>
        <a:buSzPct val="80000"/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1AC2"/>
        </a:buClr>
        <a:buSzPct val="80000"/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1AC2"/>
        </a:buClr>
        <a:buSzPct val="8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1AC2"/>
        </a:buClr>
        <a:buSzPct val="8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ngelvillegascruz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irc.rochester.edu/angel.villegascruz/2026-circ-r-course-avc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/download/rstudio-desktop/" TargetMode="External"/><Relationship Id="rId2" Type="http://schemas.openxmlformats.org/officeDocument/2006/relationships/hyperlink" Target="https://cran.rstudio.com/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8C60A0-0BDA-9D1B-0CA6-A6508465F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Introduction to  R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EE6C766-73C9-57D2-BD19-1F75521EA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517" y="4648200"/>
            <a:ext cx="4356483" cy="120635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latin typeface="+mn-lt"/>
              </a:rPr>
              <a:t>CIRC Winter Bootcamp 2026</a:t>
            </a:r>
          </a:p>
          <a:p>
            <a:pPr algn="ctr"/>
            <a:r>
              <a:rPr lang="en-US" sz="2400" dirty="0">
                <a:latin typeface="+mn-lt"/>
              </a:rPr>
              <a:t>February 03-05, 2026</a:t>
            </a:r>
          </a:p>
          <a:p>
            <a:pPr algn="ctr"/>
            <a:r>
              <a:rPr lang="en-US" sz="2400" dirty="0">
                <a:latin typeface="+mn-lt"/>
              </a:rPr>
              <a:t>Angel M. Villegas-Cruz, Ph.D.</a:t>
            </a:r>
          </a:p>
        </p:txBody>
      </p:sp>
    </p:spTree>
    <p:extLst>
      <p:ext uri="{BB962C8B-B14F-4D97-AF65-F5344CB8AC3E}">
        <p14:creationId xmlns:p14="http://schemas.microsoft.com/office/powerpoint/2010/main" val="915363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5D170-B1F1-C7CB-F6F5-1BD2E2B0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/>
            <a:r>
              <a:rPr lang="en-US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E79026-746F-2DF7-5EE5-614EB3A6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343400"/>
          </a:xfrm>
        </p:spPr>
        <p:txBody>
          <a:bodyPr>
            <a:normAutofit/>
          </a:bodyPr>
          <a:lstStyle/>
          <a:p>
            <a:r>
              <a:rPr lang="en-US" sz="2400" dirty="0"/>
              <a:t>Exploring the basics of R programming</a:t>
            </a:r>
          </a:p>
          <a:p>
            <a:endParaRPr lang="en-US" sz="2400" dirty="0"/>
          </a:p>
          <a:p>
            <a:r>
              <a:rPr lang="en-US" sz="2400" dirty="0"/>
              <a:t>Learning some fundamentals about how coding languages work</a:t>
            </a:r>
          </a:p>
          <a:p>
            <a:endParaRPr lang="en-US" sz="2400" dirty="0"/>
          </a:p>
          <a:p>
            <a:r>
              <a:rPr lang="en-US" sz="2400" dirty="0"/>
              <a:t>Performing common data analysis activities</a:t>
            </a:r>
          </a:p>
          <a:p>
            <a:endParaRPr lang="en-US" sz="2400" dirty="0"/>
          </a:p>
          <a:p>
            <a:r>
              <a:rPr lang="en-US" sz="2400" dirty="0"/>
              <a:t>Overall goal</a:t>
            </a:r>
          </a:p>
          <a:p>
            <a:pPr lvl="1"/>
            <a:r>
              <a:rPr lang="en-US" sz="2400" dirty="0"/>
              <a:t>Learn something, not everything!</a:t>
            </a:r>
          </a:p>
        </p:txBody>
      </p:sp>
    </p:spTree>
    <p:extLst>
      <p:ext uri="{BB962C8B-B14F-4D97-AF65-F5344CB8AC3E}">
        <p14:creationId xmlns:p14="http://schemas.microsoft.com/office/powerpoint/2010/main" val="70556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6796-7C47-3217-D9C0-53970339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0C70A7-EDAA-4D4A-1E2C-31543B2B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/>
            <a:r>
              <a:rPr lang="en-US" dirty="0"/>
              <a:t>About 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46E734-E5BD-2B17-0F03-901C912DC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57300"/>
            <a:ext cx="7467600" cy="46863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Angel M. Villegas-Cruz</a:t>
            </a:r>
          </a:p>
          <a:p>
            <a:endParaRPr lang="en-US" sz="2800" dirty="0"/>
          </a:p>
          <a:p>
            <a:r>
              <a:rPr lang="en-US" sz="2800" dirty="0"/>
              <a:t>Senior Institutional Research Analyst in the Office of Data Insights and Reporting</a:t>
            </a:r>
          </a:p>
          <a:p>
            <a:pPr lvl="1"/>
            <a:r>
              <a:rPr lang="en-US" sz="2400" dirty="0"/>
              <a:t>~2 years at </a:t>
            </a:r>
            <a:r>
              <a:rPr lang="en-US" sz="2400" dirty="0" err="1"/>
              <a:t>URochester</a:t>
            </a:r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Ph.D. in Political Science and Asian Studies from Penn State</a:t>
            </a:r>
          </a:p>
          <a:p>
            <a:pPr lvl="1"/>
            <a:r>
              <a:rPr lang="en-US" sz="2400" dirty="0"/>
              <a:t>Quantitative analysis and computational social science</a:t>
            </a:r>
          </a:p>
          <a:p>
            <a:pPr lvl="1"/>
            <a:endParaRPr lang="en-US" sz="2800" dirty="0"/>
          </a:p>
          <a:p>
            <a:r>
              <a:rPr lang="en-US" sz="2800" dirty="0"/>
              <a:t>More information here: </a:t>
            </a:r>
            <a:r>
              <a:rPr lang="en-US" sz="2800" dirty="0">
                <a:hlinkClick r:id="rId3"/>
              </a:rPr>
              <a:t>https://angelvillegascruz.github.io/</a:t>
            </a:r>
            <a:r>
              <a:rPr lang="en-US" sz="2800" dirty="0"/>
              <a:t>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558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9701-69F4-477E-A349-D8BC977B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About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53839-903A-A70E-DABE-D32C408BC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Name?</a:t>
            </a:r>
          </a:p>
          <a:p>
            <a:endParaRPr lang="en-US" sz="2400" dirty="0"/>
          </a:p>
          <a:p>
            <a:r>
              <a:rPr lang="en-US" sz="2400" dirty="0"/>
              <a:t>Experience with R?</a:t>
            </a:r>
          </a:p>
          <a:p>
            <a:endParaRPr lang="en-US" sz="2400" dirty="0"/>
          </a:p>
          <a:p>
            <a:r>
              <a:rPr lang="en-US" sz="2400" dirty="0"/>
              <a:t>Experience with other programming languages or statistical software? </a:t>
            </a:r>
          </a:p>
          <a:p>
            <a:pPr lvl="1"/>
            <a:r>
              <a:rPr lang="en-US" sz="2400" dirty="0"/>
              <a:t>C++, SQL, Python, JavaScript, STATA, SPSS, SAS, MATLAB, etc.</a:t>
            </a:r>
          </a:p>
          <a:p>
            <a:pPr lvl="1"/>
            <a:endParaRPr lang="en-US" sz="2400" dirty="0"/>
          </a:p>
          <a:p>
            <a:r>
              <a:rPr lang="en-US" sz="2400" dirty="0"/>
              <a:t>Experience with data science?</a:t>
            </a:r>
          </a:p>
        </p:txBody>
      </p:sp>
    </p:spTree>
    <p:extLst>
      <p:ext uri="{BB962C8B-B14F-4D97-AF65-F5344CB8AC3E}">
        <p14:creationId xmlns:p14="http://schemas.microsoft.com/office/powerpoint/2010/main" val="1871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2AF3-03B2-80E4-CA56-DC1B2C89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Coding Fundamentals: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27C5-3C82-629F-050C-50017DF2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Your computer only understands machine code (1s and zeros)</a:t>
            </a:r>
          </a:p>
          <a:p>
            <a:endParaRPr lang="en-US" sz="2800" dirty="0"/>
          </a:p>
          <a:p>
            <a:r>
              <a:rPr lang="en-US" sz="2800" dirty="0"/>
              <a:t>All coding languages are essentially three things:</a:t>
            </a:r>
          </a:p>
          <a:p>
            <a:pPr lvl="1"/>
            <a:r>
              <a:rPr lang="en-US" sz="2400" dirty="0"/>
              <a:t>The language itself (a set of keywords and syntax rules)</a:t>
            </a:r>
          </a:p>
          <a:p>
            <a:pPr lvl="1"/>
            <a:r>
              <a:rPr lang="en-US" sz="2400" dirty="0"/>
              <a:t>A way to translate human language into machine code that your machine can run</a:t>
            </a:r>
          </a:p>
          <a:p>
            <a:pPr lvl="1"/>
            <a:r>
              <a:rPr lang="en-US" sz="2400" dirty="0"/>
              <a:t>Often, but not always, a standard library (a bunch of pre-written code for that language that covers basic usage that most people need)</a:t>
            </a:r>
          </a:p>
        </p:txBody>
      </p:sp>
    </p:spTree>
    <p:extLst>
      <p:ext uri="{BB962C8B-B14F-4D97-AF65-F5344CB8AC3E}">
        <p14:creationId xmlns:p14="http://schemas.microsoft.com/office/powerpoint/2010/main" val="210334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5992-2969-1707-C483-AC97B386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6EF4-4F82-99F3-7793-2066E691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Coding Fundamentals: </a:t>
            </a:r>
            <a:br>
              <a:rPr lang="en-US" sz="3200" dirty="0"/>
            </a:br>
            <a:r>
              <a:rPr lang="en-US" sz="3200" dirty="0"/>
              <a:t>Compiled vs Interpreted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44B96-1DAA-3E91-A8E6-8B2348CD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Compiled: (C, C++, Rust, Go, Fortran)</a:t>
            </a:r>
          </a:p>
          <a:p>
            <a:pPr lvl="1"/>
            <a:r>
              <a:rPr lang="en-US" sz="2000" dirty="0"/>
              <a:t>Compiler converts your entire program to an executable file</a:t>
            </a:r>
          </a:p>
          <a:p>
            <a:pPr lvl="1"/>
            <a:r>
              <a:rPr lang="en-US" sz="2000" dirty="0"/>
              <a:t>Compiler never sees the program “run”</a:t>
            </a:r>
          </a:p>
          <a:p>
            <a:pPr lvl="1"/>
            <a:r>
              <a:rPr lang="en-US" sz="2000" dirty="0"/>
              <a:t>They offer faster execution speed, but hard to troubleshoot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600" dirty="0"/>
              <a:t>Interpreted: (R, Python, Ruby, PHP, Bash, JavaScript)</a:t>
            </a:r>
          </a:p>
          <a:p>
            <a:pPr lvl="1"/>
            <a:r>
              <a:rPr lang="en-US" sz="2000" dirty="0"/>
              <a:t>Interpreter translates and executes your program line by line</a:t>
            </a:r>
          </a:p>
          <a:p>
            <a:pPr lvl="1"/>
            <a:r>
              <a:rPr lang="en-US" sz="2000" dirty="0"/>
              <a:t>Interpreter constantly runs, and your program runs “through” it</a:t>
            </a:r>
          </a:p>
          <a:p>
            <a:pPr lvl="1"/>
            <a:r>
              <a:rPr lang="en-US" sz="2000" dirty="0"/>
              <a:t>They are slower but easier to troubleshoot</a:t>
            </a:r>
          </a:p>
        </p:txBody>
      </p:sp>
    </p:spTree>
    <p:extLst>
      <p:ext uri="{BB962C8B-B14F-4D97-AF65-F5344CB8AC3E}">
        <p14:creationId xmlns:p14="http://schemas.microsoft.com/office/powerpoint/2010/main" val="303216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4119-B305-849E-3000-3D26057A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F8EC0-8AA4-928D-D8F6-3A9FCC9C5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56" y="1674416"/>
            <a:ext cx="7886700" cy="465018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Programming language based on S</a:t>
            </a:r>
          </a:p>
          <a:p>
            <a:pPr lvl="1"/>
            <a:r>
              <a:rPr lang="en-US" sz="2400" dirty="0"/>
              <a:t>Created by Ross Ihaka and Robert Gentleman as a “free” version of S in the 1990s</a:t>
            </a:r>
          </a:p>
          <a:p>
            <a:pPr lvl="1"/>
            <a:endParaRPr lang="en-US" sz="2400" dirty="0"/>
          </a:p>
          <a:p>
            <a:r>
              <a:rPr lang="en-US" sz="2800" dirty="0"/>
              <a:t>Interpreted language</a:t>
            </a:r>
          </a:p>
          <a:p>
            <a:endParaRPr lang="en-US" sz="2800" dirty="0"/>
          </a:p>
          <a:p>
            <a:r>
              <a:rPr lang="en-US" sz="2800" dirty="0"/>
              <a:t>Excellent for statistical and graphical techniques</a:t>
            </a:r>
          </a:p>
          <a:p>
            <a:pPr lvl="1"/>
            <a:r>
              <a:rPr lang="en-US" sz="2400" dirty="0"/>
              <a:t>Linear and nonlinear modeling, classical statistical tests, time-series analysis, classification, clustering, etc.</a:t>
            </a:r>
          </a:p>
          <a:p>
            <a:pPr lvl="1"/>
            <a:r>
              <a:rPr lang="en-US" sz="2400" dirty="0"/>
              <a:t>Popular among data scientists, statisticians, academics, researchers, etc.</a:t>
            </a:r>
          </a:p>
        </p:txBody>
      </p:sp>
    </p:spTree>
    <p:extLst>
      <p:ext uri="{BB962C8B-B14F-4D97-AF65-F5344CB8AC3E}">
        <p14:creationId xmlns:p14="http://schemas.microsoft.com/office/powerpoint/2010/main" val="293066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FD4F-C917-378A-20C1-8D30B760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90500"/>
            <a:ext cx="7772400" cy="1143000"/>
          </a:xfrm>
        </p:spPr>
        <p:txBody>
          <a:bodyPr/>
          <a:lstStyle/>
          <a:p>
            <a:pPr algn="ctr"/>
            <a:r>
              <a:rPr lang="en-US" sz="4000" dirty="0"/>
              <a:t>Coding Fundamentals: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2684-74C6-FAB6-5C3C-980EC7F38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r>
              <a:rPr lang="en-US" sz="2400" dirty="0"/>
              <a:t>If you want to type an essay, you use Microsoft Word</a:t>
            </a:r>
          </a:p>
          <a:p>
            <a:endParaRPr lang="en-US" sz="2400" dirty="0"/>
          </a:p>
          <a:p>
            <a:r>
              <a:rPr lang="en-US" sz="2400" dirty="0"/>
              <a:t>If you want to type code, you use an Integrated Development Environment (IDE). This will usually include:</a:t>
            </a:r>
          </a:p>
          <a:p>
            <a:pPr lvl="1"/>
            <a:r>
              <a:rPr lang="en-US" sz="2000" dirty="0"/>
              <a:t>A file browser</a:t>
            </a:r>
          </a:p>
          <a:p>
            <a:pPr lvl="1"/>
            <a:r>
              <a:rPr lang="en-US" sz="2000" dirty="0"/>
              <a:t>A file editor (syntax highlighting)</a:t>
            </a:r>
          </a:p>
          <a:p>
            <a:pPr lvl="1"/>
            <a:r>
              <a:rPr lang="en-US" sz="2000" dirty="0"/>
              <a:t>A terminal window</a:t>
            </a:r>
          </a:p>
          <a:p>
            <a:pPr lvl="1"/>
            <a:endParaRPr lang="en-US" sz="2000" dirty="0"/>
          </a:p>
          <a:p>
            <a:r>
              <a:rPr lang="en-US" sz="2400" dirty="0"/>
              <a:t>Other various code-specific windows (like a “console”)</a:t>
            </a:r>
          </a:p>
          <a:p>
            <a:pPr lvl="1"/>
            <a:r>
              <a:rPr lang="en-US" sz="2000" dirty="0"/>
              <a:t>Examples:</a:t>
            </a:r>
          </a:p>
          <a:p>
            <a:pPr lvl="2"/>
            <a:r>
              <a:rPr lang="en-US" sz="2000" dirty="0"/>
              <a:t> RStudio (designed for R)</a:t>
            </a:r>
          </a:p>
          <a:p>
            <a:pPr lvl="2"/>
            <a:r>
              <a:rPr lang="en-US" sz="2000" dirty="0"/>
              <a:t>VS Code (general purpose, extension-based IDE)</a:t>
            </a:r>
          </a:p>
        </p:txBody>
      </p:sp>
    </p:spTree>
    <p:extLst>
      <p:ext uri="{BB962C8B-B14F-4D97-AF65-F5344CB8AC3E}">
        <p14:creationId xmlns:p14="http://schemas.microsoft.com/office/powerpoint/2010/main" val="19241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2EE3-432A-80D0-9FC6-144B591C6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RStudio?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8A6B0-05DC-B682-6FA3-C5CB64995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2010: Developed by J. J. Allaire as a free and open-source integrated development environment (IDE)</a:t>
            </a:r>
          </a:p>
          <a:p>
            <a:endParaRPr lang="en-US" sz="2800" dirty="0"/>
          </a:p>
          <a:p>
            <a:r>
              <a:rPr lang="en-US" sz="2800" dirty="0"/>
              <a:t>2022: Rebranded to “Posit” to signify their expansion to data science in all languages</a:t>
            </a:r>
          </a:p>
          <a:p>
            <a:pPr lvl="1"/>
            <a:r>
              <a:rPr lang="en-US" sz="2500" dirty="0"/>
              <a:t>Have a large library of open-source tools and enterprise services</a:t>
            </a:r>
          </a:p>
        </p:txBody>
      </p:sp>
    </p:spTree>
    <p:extLst>
      <p:ext uri="{BB962C8B-B14F-4D97-AF65-F5344CB8AC3E}">
        <p14:creationId xmlns:p14="http://schemas.microsoft.com/office/powerpoint/2010/main" val="204091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99D5-EE1B-AF6C-E72C-DEB61F22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7699-A2AF-099C-0FF1-1B2D79DF5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50E3E-ED5E-149F-4A5B-D63FBF5C9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56" y="1674416"/>
            <a:ext cx="7886700" cy="4497784"/>
          </a:xfrm>
        </p:spPr>
        <p:txBody>
          <a:bodyPr>
            <a:normAutofit/>
          </a:bodyPr>
          <a:lstStyle/>
          <a:p>
            <a:r>
              <a:rPr lang="en-US" sz="2800" dirty="0"/>
              <a:t>Highly extensible</a:t>
            </a:r>
          </a:p>
          <a:p>
            <a:pPr lvl="1"/>
            <a:r>
              <a:rPr lang="en-US" sz="2400" dirty="0"/>
              <a:t>Comprehensive R Archive Network (CRAN)</a:t>
            </a:r>
          </a:p>
          <a:p>
            <a:pPr lvl="1"/>
            <a:endParaRPr lang="en-US" sz="2400" dirty="0"/>
          </a:p>
          <a:p>
            <a:r>
              <a:rPr lang="en-US" sz="2800" dirty="0"/>
              <a:t>Easy to install R packages</a:t>
            </a:r>
          </a:p>
          <a:p>
            <a:pPr lvl="1"/>
            <a:r>
              <a:rPr lang="en-US" sz="2400" dirty="0"/>
              <a:t>Examples: </a:t>
            </a:r>
            <a:r>
              <a:rPr lang="en-US" sz="2400" dirty="0" err="1"/>
              <a:t>tidyverse</a:t>
            </a:r>
            <a:r>
              <a:rPr lang="en-US" sz="2400" dirty="0"/>
              <a:t>, </a:t>
            </a:r>
            <a:r>
              <a:rPr lang="en-US" sz="2400" dirty="0" err="1"/>
              <a:t>dplyr</a:t>
            </a:r>
            <a:r>
              <a:rPr lang="en-US" sz="2400" dirty="0"/>
              <a:t>, ggplot2, </a:t>
            </a:r>
            <a:r>
              <a:rPr lang="en-US" sz="2400" dirty="0" err="1"/>
              <a:t>stringr</a:t>
            </a:r>
            <a:r>
              <a:rPr lang="en-US" sz="2400" dirty="0"/>
              <a:t>, etc.</a:t>
            </a:r>
          </a:p>
          <a:p>
            <a:pPr lvl="1"/>
            <a:endParaRPr lang="en-US" sz="2400" dirty="0"/>
          </a:p>
          <a:p>
            <a:r>
              <a:rPr lang="en-US" sz="2800" dirty="0"/>
              <a:t>Other tools</a:t>
            </a:r>
          </a:p>
          <a:p>
            <a:pPr lvl="1"/>
            <a:r>
              <a:rPr lang="en-US" sz="2400" dirty="0"/>
              <a:t>R Markdown</a:t>
            </a:r>
          </a:p>
          <a:p>
            <a:pPr lvl="1"/>
            <a:r>
              <a:rPr lang="en-US" sz="2400" dirty="0"/>
              <a:t>R Shiny</a:t>
            </a:r>
          </a:p>
          <a:p>
            <a:pPr lvl="1"/>
            <a:r>
              <a:rPr lang="en-US" sz="2400" i="1" dirty="0"/>
              <a:t>The R Journal </a:t>
            </a:r>
          </a:p>
        </p:txBody>
      </p:sp>
    </p:spTree>
    <p:extLst>
      <p:ext uri="{BB962C8B-B14F-4D97-AF65-F5344CB8AC3E}">
        <p14:creationId xmlns:p14="http://schemas.microsoft.com/office/powerpoint/2010/main" val="669807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B853-533E-9587-C139-D9F299EA6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 is Portable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3D33-31FE-A6C7-4539-097992922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Runs on Desktop systems (Mac OS X, Windows, Linux, BSD, etc.)</a:t>
            </a:r>
          </a:p>
          <a:p>
            <a:endParaRPr lang="en-US" sz="2800" dirty="0"/>
          </a:p>
          <a:p>
            <a:r>
              <a:rPr lang="en-US" sz="2800" dirty="0"/>
              <a:t>Apps for iOS and Android</a:t>
            </a:r>
          </a:p>
          <a:p>
            <a:endParaRPr lang="en-US" sz="2800" dirty="0"/>
          </a:p>
          <a:p>
            <a:r>
              <a:rPr lang="en-US" sz="2800" dirty="0"/>
              <a:t>Graphical User Interface (GUI) not required</a:t>
            </a:r>
          </a:p>
          <a:p>
            <a:endParaRPr lang="en-US" sz="2800" dirty="0"/>
          </a:p>
          <a:p>
            <a:r>
              <a:rPr lang="en-US" sz="2800" dirty="0"/>
              <a:t>Runs on Linux clusters and supercomputers</a:t>
            </a:r>
          </a:p>
          <a:p>
            <a:pPr lvl="1"/>
            <a:r>
              <a:rPr lang="en-US" sz="2800" dirty="0" err="1"/>
              <a:t>BlueHive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83572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ow of black computer servers&#10;&#10;AI-generated content may be incorrect.">
            <a:extLst>
              <a:ext uri="{FF2B5EF4-FFF2-40B4-BE49-F238E27FC236}">
                <a16:creationId xmlns:a16="http://schemas.microsoft.com/office/drawing/2014/main" id="{9EB7567F-9A0F-AEED-548C-79F30DACE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" b="-2"/>
          <a:stretch>
            <a:fillRect/>
          </a:stretch>
        </p:blipFill>
        <p:spPr>
          <a:xfrm>
            <a:off x="20" y="10"/>
            <a:ext cx="9143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275645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45E0-D7C6-3415-6D78-DB3E8A4B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BlueHive</a:t>
            </a:r>
            <a:r>
              <a:rPr lang="en-US" dirty="0"/>
              <a:t>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4685-18E0-EA1B-F88F-48A39498B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CIRC’s primary Linux cluster for demanding computations</a:t>
            </a:r>
          </a:p>
          <a:p>
            <a:pPr lvl="1"/>
            <a:r>
              <a:rPr lang="en-US" sz="2800" dirty="0"/>
              <a:t>General Compute Nodes</a:t>
            </a:r>
          </a:p>
          <a:p>
            <a:pPr lvl="2"/>
            <a:r>
              <a:rPr lang="en-US" sz="2800" dirty="0"/>
              <a:t>Approximately 480 compute nodes</a:t>
            </a:r>
          </a:p>
          <a:p>
            <a:pPr lvl="2"/>
            <a:r>
              <a:rPr lang="en-US" sz="2800" dirty="0"/>
              <a:t>96 cores per node</a:t>
            </a:r>
          </a:p>
          <a:p>
            <a:pPr lvl="2"/>
            <a:r>
              <a:rPr lang="en-US" sz="2800" dirty="0"/>
              <a:t>Ranges in memory from 20 GB to 3TB</a:t>
            </a:r>
          </a:p>
          <a:p>
            <a:pPr lvl="2"/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You can run R on </a:t>
            </a:r>
            <a:r>
              <a:rPr lang="en-US" sz="2800" dirty="0" err="1"/>
              <a:t>BlueHive</a:t>
            </a:r>
            <a:endParaRPr lang="en-US" sz="2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54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187BFB-E059-E50C-E387-67950878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507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C80E-29EA-4F27-6935-482B30E3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366C-5070-DCDA-6CFD-EE1F61D55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800">
                <a:hlinkClick r:id="rId2"/>
              </a:rPr>
              <a:t>https://gitlab.circ.rochester.edu/angel.villegascruz/2026-circ-r-course-avc</a:t>
            </a:r>
            <a:r>
              <a:rPr lang="en-US" sz="3800"/>
              <a:t> 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314066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5499-AB0E-7DC7-E891-CC342D04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Install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132A-B0A6-AAEF-CA89-054E669AE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52600"/>
            <a:ext cx="7540856" cy="4114800"/>
          </a:xfrm>
        </p:spPr>
        <p:txBody>
          <a:bodyPr>
            <a:normAutofit/>
          </a:bodyPr>
          <a:lstStyle/>
          <a:p>
            <a:r>
              <a:rPr lang="en-US" sz="2800" dirty="0"/>
              <a:t>Installing R</a:t>
            </a:r>
          </a:p>
          <a:p>
            <a:pPr lvl="1"/>
            <a:r>
              <a:rPr lang="en-US" sz="2800" dirty="0"/>
              <a:t>Go to </a:t>
            </a:r>
            <a:r>
              <a:rPr lang="en-US" sz="2800" dirty="0">
                <a:hlinkClick r:id="rId2"/>
              </a:rPr>
              <a:t>https://cran.rstudio.com/</a:t>
            </a:r>
            <a:r>
              <a:rPr lang="en-US" sz="2800" dirty="0"/>
              <a:t> and download the latest version of R for your </a:t>
            </a:r>
            <a:r>
              <a:rPr lang="en-US" sz="2800" dirty="0" err="1"/>
              <a:t>os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Installing RStudio Desktop</a:t>
            </a:r>
          </a:p>
          <a:p>
            <a:pPr lvl="1"/>
            <a:r>
              <a:rPr lang="en-US" sz="2800" dirty="0"/>
              <a:t>Go to </a:t>
            </a:r>
            <a:r>
              <a:rPr lang="en-US" sz="2800" dirty="0">
                <a:hlinkClick r:id="rId3"/>
              </a:rPr>
              <a:t>https://posit.co/download/rstudio-desktop/</a:t>
            </a:r>
            <a:r>
              <a:rPr lang="en-US" sz="2800" dirty="0"/>
              <a:t> and download the latest RStudio desktop</a:t>
            </a:r>
          </a:p>
        </p:txBody>
      </p:sp>
    </p:spTree>
    <p:extLst>
      <p:ext uri="{BB962C8B-B14F-4D97-AF65-F5344CB8AC3E}">
        <p14:creationId xmlns:p14="http://schemas.microsoft.com/office/powerpoint/2010/main" val="3875948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9D94-A14D-F3B6-5062-93744F40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CCA58-3D88-6467-D793-CAF62ED4C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56" y="1674416"/>
            <a:ext cx="7813444" cy="3991094"/>
          </a:xfrm>
        </p:spPr>
        <p:txBody>
          <a:bodyPr>
            <a:normAutofit/>
          </a:bodyPr>
          <a:lstStyle/>
          <a:p>
            <a:r>
              <a:rPr lang="en-US" sz="2800" dirty="0"/>
              <a:t>Open the file </a:t>
            </a:r>
            <a:r>
              <a:rPr lang="en-US" sz="2800" dirty="0">
                <a:solidFill>
                  <a:srgbClr val="C00000"/>
                </a:solidFill>
              </a:rPr>
              <a:t>examples/1_r_cmd_line.R </a:t>
            </a:r>
            <a:r>
              <a:rPr lang="en-US" sz="2800" dirty="0"/>
              <a:t>and it will open with RStudio</a:t>
            </a:r>
          </a:p>
          <a:p>
            <a:endParaRPr lang="en-US" sz="2800" dirty="0"/>
          </a:p>
          <a:p>
            <a:r>
              <a:rPr lang="en-US" sz="2800" dirty="0"/>
              <a:t>You will find windows with:</a:t>
            </a:r>
          </a:p>
          <a:p>
            <a:pPr lvl="1"/>
            <a:r>
              <a:rPr lang="en-US" sz="2800" dirty="0"/>
              <a:t>Text editor (R script)</a:t>
            </a:r>
          </a:p>
          <a:p>
            <a:pPr lvl="1"/>
            <a:r>
              <a:rPr lang="en-US" sz="2800" dirty="0"/>
              <a:t>Console and a Terminal</a:t>
            </a:r>
          </a:p>
          <a:p>
            <a:pPr lvl="1"/>
            <a:r>
              <a:rPr lang="en-US" sz="2800" dirty="0"/>
              <a:t>File browser</a:t>
            </a:r>
          </a:p>
          <a:p>
            <a:pPr lvl="1"/>
            <a:r>
              <a:rPr lang="en-US" sz="2800" dirty="0"/>
              <a:t>Current “environment”</a:t>
            </a:r>
          </a:p>
        </p:txBody>
      </p:sp>
    </p:spTree>
    <p:extLst>
      <p:ext uri="{BB962C8B-B14F-4D97-AF65-F5344CB8AC3E}">
        <p14:creationId xmlns:p14="http://schemas.microsoft.com/office/powerpoint/2010/main" val="1694346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7D444-30E4-ACD4-7183-CACD725A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Objects and Basic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B1C5-4D80-1228-6D13-791BC4AAA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56" y="1674416"/>
            <a:ext cx="7886700" cy="4497784"/>
          </a:xfrm>
        </p:spPr>
        <p:txBody>
          <a:bodyPr/>
          <a:lstStyle/>
          <a:p>
            <a:r>
              <a:rPr lang="en-US" sz="2400" dirty="0"/>
              <a:t>An object is data stored in the computer</a:t>
            </a:r>
          </a:p>
          <a:p>
            <a:endParaRPr lang="en-US" sz="2400" dirty="0"/>
          </a:p>
          <a:p>
            <a:r>
              <a:rPr lang="en-US" sz="2400" dirty="0"/>
              <a:t>If we want to be able to reference this object later, we can assign it a name using the assignment operator</a:t>
            </a:r>
          </a:p>
          <a:p>
            <a:pPr lvl="1"/>
            <a:r>
              <a:rPr lang="en-US" sz="2000" dirty="0"/>
              <a:t>&lt;- or =</a:t>
            </a:r>
          </a:p>
          <a:p>
            <a:pPr lvl="1"/>
            <a:endParaRPr lang="en-US" sz="2000" dirty="0"/>
          </a:p>
          <a:p>
            <a:r>
              <a:rPr lang="en-US" sz="2400" dirty="0"/>
              <a:t>Each object has a type. Basic data types:</a:t>
            </a:r>
          </a:p>
          <a:p>
            <a:pPr lvl="1"/>
            <a:r>
              <a:rPr lang="en-US" sz="2000" b="1" dirty="0"/>
              <a:t>Numeric or doubles</a:t>
            </a:r>
            <a:r>
              <a:rPr lang="en-US" sz="2000" dirty="0"/>
              <a:t>: 5 or 2.3</a:t>
            </a:r>
          </a:p>
          <a:p>
            <a:pPr lvl="1"/>
            <a:r>
              <a:rPr lang="en-US" sz="2000" b="1" dirty="0"/>
              <a:t>Integer</a:t>
            </a:r>
            <a:r>
              <a:rPr lang="en-US" sz="2000" dirty="0"/>
              <a:t>: 5L or 10L</a:t>
            </a:r>
          </a:p>
          <a:p>
            <a:pPr lvl="1"/>
            <a:r>
              <a:rPr lang="en-US" sz="2000" b="1" dirty="0"/>
              <a:t>Complex</a:t>
            </a:r>
            <a:r>
              <a:rPr lang="en-US" sz="2000" dirty="0"/>
              <a:t>: (3 + 2i)</a:t>
            </a:r>
          </a:p>
          <a:p>
            <a:pPr lvl="1"/>
            <a:r>
              <a:rPr lang="en-US" sz="2000" b="1" dirty="0"/>
              <a:t>Character</a:t>
            </a:r>
            <a:r>
              <a:rPr lang="en-US" sz="2000" dirty="0"/>
              <a:t> or </a:t>
            </a:r>
            <a:r>
              <a:rPr lang="en-US" sz="2000" b="1" dirty="0"/>
              <a:t>String</a:t>
            </a:r>
            <a:r>
              <a:rPr lang="en-US" sz="2000" dirty="0"/>
              <a:t>: “hello” or “Canada”</a:t>
            </a:r>
          </a:p>
          <a:p>
            <a:pPr lvl="1"/>
            <a:r>
              <a:rPr lang="en-US" sz="2000" b="1" dirty="0"/>
              <a:t>Logical</a:t>
            </a:r>
            <a:r>
              <a:rPr lang="en-US" sz="2000" dirty="0"/>
              <a:t>: True or False</a:t>
            </a:r>
          </a:p>
        </p:txBody>
      </p:sp>
    </p:spTree>
    <p:extLst>
      <p:ext uri="{BB962C8B-B14F-4D97-AF65-F5344CB8AC3E}">
        <p14:creationId xmlns:p14="http://schemas.microsoft.com/office/powerpoint/2010/main" val="2495180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399C-354B-BA45-D673-CECE27F1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Composite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70908-0B60-966F-5E5D-E7F3D8B1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data types that can store several related objects:</a:t>
            </a:r>
          </a:p>
          <a:p>
            <a:pPr lvl="1"/>
            <a:r>
              <a:rPr lang="en-US" sz="2400" b="1" dirty="0"/>
              <a:t>Vectors</a:t>
            </a:r>
            <a:r>
              <a:rPr lang="en-US" sz="2400" dirty="0"/>
              <a:t>: 1-dimensional. all the same data type (homogeneous)</a:t>
            </a:r>
          </a:p>
          <a:p>
            <a:pPr lvl="1"/>
            <a:r>
              <a:rPr lang="en-US" sz="2400" b="1" dirty="0"/>
              <a:t>Factor</a:t>
            </a:r>
            <a:r>
              <a:rPr lang="en-US" sz="2400" dirty="0"/>
              <a:t>: a special type of vector for categorical data</a:t>
            </a:r>
          </a:p>
          <a:p>
            <a:pPr lvl="1"/>
            <a:r>
              <a:rPr lang="en-US" sz="2400" b="1" dirty="0"/>
              <a:t>List</a:t>
            </a:r>
            <a:r>
              <a:rPr lang="en-US" sz="2400" dirty="0"/>
              <a:t>: can be heterogeneous</a:t>
            </a:r>
          </a:p>
          <a:p>
            <a:pPr lvl="1"/>
            <a:r>
              <a:rPr lang="en-US" sz="2400" b="1" dirty="0"/>
              <a:t>Matrices</a:t>
            </a:r>
            <a:r>
              <a:rPr lang="en-US" sz="2400" dirty="0"/>
              <a:t>: 2-dim. homogenous</a:t>
            </a:r>
          </a:p>
          <a:p>
            <a:pPr lvl="1"/>
            <a:r>
              <a:rPr lang="en-US" sz="2400" b="1" dirty="0"/>
              <a:t>Arrays</a:t>
            </a:r>
            <a:r>
              <a:rPr lang="en-US" sz="2400" dirty="0"/>
              <a:t>: n-dim. homogenous</a:t>
            </a:r>
          </a:p>
          <a:p>
            <a:pPr lvl="1"/>
            <a:r>
              <a:rPr lang="en-US" sz="2400" b="1" dirty="0"/>
              <a:t>Data Frames</a:t>
            </a:r>
            <a:r>
              <a:rPr lang="en-US" sz="2400" dirty="0"/>
              <a:t>: homogeneous columns</a:t>
            </a:r>
          </a:p>
        </p:txBody>
      </p:sp>
    </p:spTree>
    <p:extLst>
      <p:ext uri="{BB962C8B-B14F-4D97-AF65-F5344CB8AC3E}">
        <p14:creationId xmlns:p14="http://schemas.microsoft.com/office/powerpoint/2010/main" val="303605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7790-74B1-8890-B812-404836A1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3D36-AB2F-CE51-8A5F-B2F61F694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Open the file </a:t>
            </a:r>
            <a:r>
              <a:rPr lang="en-US" sz="3200" dirty="0">
                <a:solidFill>
                  <a:srgbClr val="C00000"/>
                </a:solidFill>
              </a:rPr>
              <a:t>examples/2_objects_and_data_types.R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10762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88733E-41D3-21FE-1C54-534CD559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346502"/>
            <a:ext cx="8120062" cy="38427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92227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759B-1AF0-290F-4BC7-B34B9CB3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/>
            <a:r>
              <a:rPr lang="en-US" dirty="0"/>
              <a:t>Ifs, Loops,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0B68B-8E96-4141-1A79-EB91837BA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38744"/>
            <a:ext cx="7772400" cy="450965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Ifs </a:t>
            </a:r>
          </a:p>
          <a:p>
            <a:pPr lvl="1"/>
            <a:r>
              <a:rPr lang="en-US" sz="2200" dirty="0"/>
              <a:t>Conditional statements, such as if and else</a:t>
            </a:r>
          </a:p>
          <a:p>
            <a:pPr lvl="1"/>
            <a:endParaRPr lang="en-US" sz="2200" dirty="0"/>
          </a:p>
          <a:p>
            <a:r>
              <a:rPr lang="en-US" sz="2400" dirty="0"/>
              <a:t>Loops</a:t>
            </a:r>
          </a:p>
          <a:p>
            <a:pPr lvl="1"/>
            <a:r>
              <a:rPr lang="en-US" sz="2200" dirty="0"/>
              <a:t>Repetition of code until a condition is met or a set number of times</a:t>
            </a:r>
          </a:p>
          <a:p>
            <a:pPr lvl="1"/>
            <a:r>
              <a:rPr lang="en-US" sz="2200" dirty="0"/>
              <a:t>for loop: Iterates over a sequence</a:t>
            </a:r>
          </a:p>
          <a:p>
            <a:pPr lvl="1"/>
            <a:r>
              <a:rPr lang="en-US" sz="2200" dirty="0"/>
              <a:t>while loop: Repeats while a condition is TRUE</a:t>
            </a:r>
          </a:p>
          <a:p>
            <a:pPr lvl="1"/>
            <a:r>
              <a:rPr lang="en-US" sz="2200" dirty="0"/>
              <a:t>repeat loop: Runs indefinitely unless explicitly stopped</a:t>
            </a:r>
          </a:p>
          <a:p>
            <a:pPr lvl="1"/>
            <a:endParaRPr lang="en-US" sz="2200" dirty="0"/>
          </a:p>
          <a:p>
            <a:r>
              <a:rPr lang="en-US" sz="2400" dirty="0"/>
              <a:t>Functions </a:t>
            </a:r>
          </a:p>
          <a:p>
            <a:pPr lvl="1"/>
            <a:r>
              <a:rPr lang="en-US" sz="2200" dirty="0"/>
              <a:t>Blocks of reusable code that perform a task and may return a value</a:t>
            </a:r>
          </a:p>
        </p:txBody>
      </p:sp>
    </p:spTree>
    <p:extLst>
      <p:ext uri="{BB962C8B-B14F-4D97-AF65-F5344CB8AC3E}">
        <p14:creationId xmlns:p14="http://schemas.microsoft.com/office/powerpoint/2010/main" val="2795555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D7AEC-0DCB-B556-B273-0AD162E1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BE0C-19B4-D34A-8D4B-D6F5D31D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E650-549B-D6BF-0844-02D7F0D0A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Open the file </a:t>
            </a:r>
            <a:r>
              <a:rPr lang="en-US" sz="2800" dirty="0">
                <a:solidFill>
                  <a:srgbClr val="C00000"/>
                </a:solidFill>
              </a:rPr>
              <a:t>examples/3_functions_and_control.R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8896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D10D4-398F-7BCD-D479-5D0B61DD3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1576189"/>
            <a:ext cx="8120062" cy="3383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7703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1336-6515-FB63-147D-FAC91D77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Importing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7103B-0674-AA8B-7B5C-18F934C2D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74415"/>
            <a:ext cx="7772400" cy="4573985"/>
          </a:xfrm>
        </p:spPr>
        <p:txBody>
          <a:bodyPr>
            <a:normAutofit/>
          </a:bodyPr>
          <a:lstStyle/>
          <a:p>
            <a:r>
              <a:rPr lang="en-US" sz="2400" dirty="0"/>
              <a:t>CSV files</a:t>
            </a:r>
          </a:p>
          <a:p>
            <a:pPr lvl="1"/>
            <a:r>
              <a:rPr lang="en-US" sz="2000" dirty="0"/>
              <a:t>read.csv() in base R</a:t>
            </a:r>
          </a:p>
          <a:p>
            <a:pPr lvl="1"/>
            <a:r>
              <a:rPr lang="en-US" sz="2000" dirty="0" err="1"/>
              <a:t>read_csv</a:t>
            </a:r>
            <a:r>
              <a:rPr lang="en-US" sz="2000" dirty="0"/>
              <a:t>() in </a:t>
            </a:r>
            <a:r>
              <a:rPr lang="en-US" sz="2000" dirty="0" err="1"/>
              <a:t>readr</a:t>
            </a:r>
            <a:r>
              <a:rPr lang="en-US" sz="2000" dirty="0"/>
              <a:t> package </a:t>
            </a:r>
          </a:p>
          <a:p>
            <a:pPr lvl="1"/>
            <a:endParaRPr lang="en-US" sz="2000" dirty="0"/>
          </a:p>
          <a:p>
            <a:r>
              <a:rPr lang="en-US" sz="2400" dirty="0"/>
              <a:t>Excel (.xlsx) files</a:t>
            </a:r>
          </a:p>
          <a:p>
            <a:pPr lvl="1"/>
            <a:r>
              <a:rPr lang="en-US" sz="2200" dirty="0" err="1"/>
              <a:t>read_excel</a:t>
            </a:r>
            <a:r>
              <a:rPr lang="en-US" sz="2200" dirty="0"/>
              <a:t>() in </a:t>
            </a:r>
            <a:r>
              <a:rPr lang="en-US" sz="2200" dirty="0" err="1"/>
              <a:t>readxl</a:t>
            </a:r>
            <a:r>
              <a:rPr lang="en-US" sz="2200" dirty="0"/>
              <a:t> package</a:t>
            </a:r>
          </a:p>
          <a:p>
            <a:pPr lvl="1"/>
            <a:endParaRPr lang="en-US" sz="2200" dirty="0"/>
          </a:p>
          <a:p>
            <a:r>
              <a:rPr lang="en-US" sz="2400" dirty="0"/>
              <a:t>Stata (.</a:t>
            </a:r>
            <a:r>
              <a:rPr lang="en-US" sz="2400" dirty="0" err="1"/>
              <a:t>dta</a:t>
            </a:r>
            <a:r>
              <a:rPr lang="en-US" sz="2400" dirty="0"/>
              <a:t>) files</a:t>
            </a:r>
          </a:p>
          <a:p>
            <a:pPr lvl="1"/>
            <a:r>
              <a:rPr lang="en-US" sz="2200" dirty="0" err="1"/>
              <a:t>read_dta</a:t>
            </a:r>
            <a:r>
              <a:rPr lang="en-US" sz="2200" dirty="0"/>
              <a:t>() in haven package </a:t>
            </a:r>
          </a:p>
          <a:p>
            <a:pPr lvl="1"/>
            <a:endParaRPr lang="en-US" sz="2200" dirty="0"/>
          </a:p>
          <a:p>
            <a:r>
              <a:rPr lang="en-US" sz="2400" dirty="0"/>
              <a:t>.Txt files</a:t>
            </a:r>
          </a:p>
          <a:p>
            <a:pPr lvl="1"/>
            <a:r>
              <a:rPr lang="en-US" sz="2200" dirty="0" err="1"/>
              <a:t>read_delim</a:t>
            </a:r>
            <a:r>
              <a:rPr lang="en-US" sz="2200" dirty="0"/>
              <a:t>() in </a:t>
            </a:r>
            <a:r>
              <a:rPr lang="en-US" sz="2200" dirty="0" err="1"/>
              <a:t>readr</a:t>
            </a:r>
            <a:r>
              <a:rPr lang="en-US" sz="2200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359800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2D2F-885D-0320-3A25-B13FDEC0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E6F5-3BEC-01C1-1D03-8A6159B4C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7D33D-C4C1-EE0E-915C-266F48B6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Open the file </a:t>
            </a:r>
            <a:r>
              <a:rPr lang="en-US" sz="2800" dirty="0">
                <a:solidFill>
                  <a:srgbClr val="C00000"/>
                </a:solidFill>
              </a:rPr>
              <a:t>examples/4_dataframe.R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6622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C1854C-7D6D-ACD0-F3EB-47491D112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1157883"/>
            <a:ext cx="8120062" cy="42199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4062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5B9E5B-6188-5DD3-3497-4DBED1DC2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1877309"/>
            <a:ext cx="8120062" cy="27811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1887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1E4F-3FC7-8CD2-0FE9-96356F21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1B5C-B441-8209-BCEF-5518AD2B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2C48-BE4A-35AB-3B66-EB6C6854C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Open the file </a:t>
            </a:r>
            <a:r>
              <a:rPr lang="en-US" sz="2800" dirty="0">
                <a:solidFill>
                  <a:srgbClr val="C00000"/>
                </a:solidFill>
              </a:rPr>
              <a:t>examples/5_vizualiations.R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0628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978CAFB-227C-4EF3-E1F0-F15F3B2D4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8" y="791250"/>
            <a:ext cx="8120062" cy="49532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15916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A6F7-6BFB-6079-D9F2-AB416723D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72053"/>
      </p:ext>
    </p:extLst>
  </p:cSld>
  <p:clrMapOvr>
    <a:masterClrMapping/>
  </p:clrMapOvr>
</p:sld>
</file>

<file path=ppt/theme/theme1.xml><?xml version="1.0" encoding="utf-8"?>
<a:theme xmlns:a="http://schemas.openxmlformats.org/drawingml/2006/main" name="Urochester_BrandTemplate_Informational_R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BF38ED958B0D42A1DB4C3166A68EE8" ma:contentTypeVersion="2" ma:contentTypeDescription="Create a new document." ma:contentTypeScope="" ma:versionID="108eeeb8665d8e084ebb628891056e6d">
  <xsd:schema xmlns:xsd="http://www.w3.org/2001/XMLSchema" xmlns:p="http://schemas.microsoft.com/office/2006/metadata/properties" xmlns:ns2="445c0127-97e6-4ecf-8763-62a3d9444353" targetNamespace="http://schemas.microsoft.com/office/2006/metadata/properties" ma:root="true" ma:fieldsID="67fc13db787d5e920f87b6a691640e83" ns2:_="">
    <xsd:import namespace="445c0127-97e6-4ecf-8763-62a3d9444353"/>
    <xsd:element name="properties">
      <xsd:complexType>
        <xsd:sequence>
          <xsd:element name="documentManagement">
            <xsd:complexType>
              <xsd:all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45c0127-97e6-4ecf-8763-62a3d9444353" elementFormDefault="qualified">
    <xsd:import namespace="http://schemas.microsoft.com/office/2006/documentManagement/types"/>
    <xsd:element name="Status" ma:index="8" nillable="true" ma:displayName="Status" ma:default="In Build" ma:format="Dropdown" ma:internalName="Status">
      <xsd:simpleType>
        <xsd:restriction base="dms:Choice">
          <xsd:enumeration value="In Build"/>
          <xsd:enumeration value="Ready for Testing"/>
          <xsd:enumeration value="In Process"/>
          <xsd:enumeration value="Completed - With Errors"/>
          <xsd:enumeration value="Completed - Without Error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Status xmlns="445c0127-97e6-4ecf-8763-62a3d9444353">In Build</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28</rca:property>
    <rca:property rca:type="SelectedPageField">f55c4d88-1f2e-4ad9-aaa8-819af4ee7ee8</rca:property>
    <rca:property rca:type="SelectedStylesField">00000000-0000-0000-0000-000000000000</rca:property>
    <rca:property rca:type="CreatePageWithSourceDocument">True</rca:property>
    <rca:property rca:type="AllowChangeLocationConfig">False</rca:property>
    <rca:property rca:type="ConfiguredPageLocation">https://uofr.rochester.edu</rca:property>
    <rca:property rca:type="CreateSynchronously">False</rca:property>
    <rca:property rca:type="AllowChangeProcessingConfig">False</rca:property>
    <rca:property rca:type="ConverterSpecificSettings"/>
  </rca:Converter>
</rca:RCAuthoringProperties>
</file>

<file path=customXml/itemProps1.xml><?xml version="1.0" encoding="utf-8"?>
<ds:datastoreItem xmlns:ds="http://schemas.openxmlformats.org/officeDocument/2006/customXml" ds:itemID="{41A2773B-34BB-4B2F-95B1-ED89D2318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5c0127-97e6-4ecf-8763-62a3d944435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57650506-E0D1-4842-AE4E-075A8982DE02}">
  <ds:schemaRefs>
    <ds:schemaRef ds:uri="http://purl.org/dc/elements/1.1/"/>
    <ds:schemaRef ds:uri="445c0127-97e6-4ecf-8763-62a3d9444353"/>
    <ds:schemaRef ds:uri="http://schemas.microsoft.com/office/2006/metadata/properties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</ds:schemaRefs>
</ds:datastoreItem>
</file>

<file path=customXml/itemProps3.xml><?xml version="1.0" encoding="utf-8"?>
<ds:datastoreItem xmlns:ds="http://schemas.openxmlformats.org/officeDocument/2006/customXml" ds:itemID="{8CE1EC6E-7DEE-40A7-8470-13A775BFD7B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90AE3C2-51D7-4772-85EF-99B26ACECB13}">
  <ds:schemaRefs>
    <ds:schemaRef ds:uri="urn:sharePointPublishingRca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47292</TotalTime>
  <Words>1054</Words>
  <Application>Microsoft Office PowerPoint</Application>
  <PresentationFormat>On-screen Show (4:3)</PresentationFormat>
  <Paragraphs>194</Paragraphs>
  <Slides>31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Georgia</vt:lpstr>
      <vt:lpstr>Urochester_BrandTemplate_Informational_R2</vt:lpstr>
      <vt:lpstr>Introduction to  R </vt:lpstr>
      <vt:lpstr>Objectives</vt:lpstr>
      <vt:lpstr>About Me</vt:lpstr>
      <vt:lpstr>About You</vt:lpstr>
      <vt:lpstr>Coding Fundamentals: Languages</vt:lpstr>
      <vt:lpstr>Coding Fundamentals:  Compiled vs Interpreted</vt:lpstr>
      <vt:lpstr>What is R?</vt:lpstr>
      <vt:lpstr>Coding Fundamentals: IDEs</vt:lpstr>
      <vt:lpstr>What is RStudio?</vt:lpstr>
      <vt:lpstr>Why R?</vt:lpstr>
      <vt:lpstr>R is Portable</vt:lpstr>
      <vt:lpstr>PowerPoint Presentation</vt:lpstr>
      <vt:lpstr>BlueHive Specifications</vt:lpstr>
      <vt:lpstr>PowerPoint Presentation</vt:lpstr>
      <vt:lpstr>Class Materials</vt:lpstr>
      <vt:lpstr>Install Programs</vt:lpstr>
      <vt:lpstr>RStudio</vt:lpstr>
      <vt:lpstr>Objects and Basic Types</vt:lpstr>
      <vt:lpstr>Composite Data Types</vt:lpstr>
      <vt:lpstr>RStudio</vt:lpstr>
      <vt:lpstr>PowerPoint Presentation</vt:lpstr>
      <vt:lpstr>Ifs, Loops, and Functions</vt:lpstr>
      <vt:lpstr>RStudio</vt:lpstr>
      <vt:lpstr>PowerPoint Presentation</vt:lpstr>
      <vt:lpstr>Importing Files</vt:lpstr>
      <vt:lpstr>RStudio</vt:lpstr>
      <vt:lpstr>PowerPoint Presentation</vt:lpstr>
      <vt:lpstr>PowerPoint Presentation</vt:lpstr>
      <vt:lpstr>RStudio</vt:lpstr>
      <vt:lpstr>PowerPoint Presentation</vt:lpstr>
      <vt:lpstr>PowerPoint Presentation</vt:lpstr>
    </vt:vector>
  </TitlesOfParts>
  <Company>University of Rochester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EDUCAUSE 2007</dc:subject>
  <dc:creator>Jim Dobbertin, Doug Wylie, John Barden</dc:creator>
  <cp:lastModifiedBy>Villegas Cruz, Angel</cp:lastModifiedBy>
  <cp:revision>2738</cp:revision>
  <cp:lastPrinted>2019-03-28T19:47:18Z</cp:lastPrinted>
  <dcterms:created xsi:type="dcterms:W3CDTF">2007-09-21T12:15:26Z</dcterms:created>
  <dcterms:modified xsi:type="dcterms:W3CDTF">2026-02-03T19:33:39Z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ContentTypeId">
    <vt:lpwstr>0x010100F9BF38ED958B0D42A1DB4C3166A68EE8</vt:lpwstr>
  </property>
</Properties>
</file>