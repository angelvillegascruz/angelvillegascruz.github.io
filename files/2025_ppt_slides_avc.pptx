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367" r:id="rId5"/>
    <p:sldMasterId id="2147484379" r:id="rId6"/>
  </p:sldMasterIdLst>
  <p:notesMasterIdLst>
    <p:notesMasterId r:id="rId38"/>
  </p:notesMasterIdLst>
  <p:handoutMasterIdLst>
    <p:handoutMasterId r:id="rId39"/>
  </p:handoutMasterIdLst>
  <p:sldIdLst>
    <p:sldId id="924" r:id="rId7"/>
    <p:sldId id="925" r:id="rId8"/>
    <p:sldId id="926" r:id="rId9"/>
    <p:sldId id="927" r:id="rId10"/>
    <p:sldId id="928" r:id="rId11"/>
    <p:sldId id="929" r:id="rId12"/>
    <p:sldId id="930" r:id="rId13"/>
    <p:sldId id="936" r:id="rId14"/>
    <p:sldId id="935" r:id="rId15"/>
    <p:sldId id="931" r:id="rId16"/>
    <p:sldId id="933" r:id="rId17"/>
    <p:sldId id="932" r:id="rId18"/>
    <p:sldId id="934" r:id="rId19"/>
    <p:sldId id="939" r:id="rId20"/>
    <p:sldId id="953" r:id="rId21"/>
    <p:sldId id="937" r:id="rId22"/>
    <p:sldId id="938" r:id="rId23"/>
    <p:sldId id="940" r:id="rId24"/>
    <p:sldId id="942" r:id="rId25"/>
    <p:sldId id="941" r:id="rId26"/>
    <p:sldId id="945" r:id="rId27"/>
    <p:sldId id="946" r:id="rId28"/>
    <p:sldId id="944" r:id="rId29"/>
    <p:sldId id="943" r:id="rId30"/>
    <p:sldId id="951" r:id="rId31"/>
    <p:sldId id="947" r:id="rId32"/>
    <p:sldId id="948" r:id="rId33"/>
    <p:sldId id="949" r:id="rId34"/>
    <p:sldId id="950" r:id="rId35"/>
    <p:sldId id="952" r:id="rId36"/>
    <p:sldId id="421" r:id="rId37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1" userDrawn="1">
          <p15:clr>
            <a:srgbClr val="A4A3A4"/>
          </p15:clr>
        </p15:guide>
        <p15:guide id="2" pos="2213" userDrawn="1">
          <p15:clr>
            <a:srgbClr val="A4A3A4"/>
          </p15:clr>
        </p15:guide>
        <p15:guide id="3" orient="horz" pos="2947" userDrawn="1">
          <p15:clr>
            <a:srgbClr val="A4A3A4"/>
          </p15:clr>
        </p15:guide>
        <p15:guide id="4" pos="2209" userDrawn="1">
          <p15:clr>
            <a:srgbClr val="A4A3A4"/>
          </p15:clr>
        </p15:guide>
        <p15:guide id="5" orient="horz" pos="2932" userDrawn="1">
          <p15:clr>
            <a:srgbClr val="A4A3A4"/>
          </p15:clr>
        </p15:guide>
        <p15:guide id="6" orient="horz" pos="292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its_local" initials="i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B89"/>
    <a:srgbClr val="E26A54"/>
    <a:srgbClr val="003E74"/>
    <a:srgbClr val="F2F2F2"/>
    <a:srgbClr val="2F5897"/>
    <a:srgbClr val="FFFF66"/>
    <a:srgbClr val="FFFFCC"/>
    <a:srgbClr val="2C5D98"/>
    <a:srgbClr val="33CC33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86667" autoAdjust="0"/>
  </p:normalViewPr>
  <p:slideViewPr>
    <p:cSldViewPr>
      <p:cViewPr varScale="1">
        <p:scale>
          <a:sx n="83" d="100"/>
          <a:sy n="83" d="100"/>
        </p:scale>
        <p:origin x="133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3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-3072" y="-77"/>
      </p:cViewPr>
      <p:guideLst>
        <p:guide orient="horz" pos="2951"/>
        <p:guide pos="2213"/>
        <p:guide orient="horz" pos="2947"/>
        <p:guide pos="2209"/>
        <p:guide orient="horz" pos="2932"/>
        <p:guide orient="horz"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viewProps" Target="viewProp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theme" Target="theme/theme1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9" y="2"/>
            <a:ext cx="3037628" cy="464820"/>
          </a:xfrm>
          <a:prstGeom prst="rect">
            <a:avLst/>
          </a:prstGeom>
        </p:spPr>
        <p:txBody>
          <a:bodyPr vert="horz" lIns="91470" tIns="45737" rIns="91470" bIns="4573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1188" y="2"/>
            <a:ext cx="3037628" cy="464820"/>
          </a:xfrm>
          <a:prstGeom prst="rect">
            <a:avLst/>
          </a:prstGeom>
        </p:spPr>
        <p:txBody>
          <a:bodyPr vert="horz" lIns="91470" tIns="45737" rIns="91470" bIns="45737" rtlCol="0"/>
          <a:lstStyle>
            <a:lvl1pPr algn="r">
              <a:defRPr sz="1200"/>
            </a:lvl1pPr>
          </a:lstStyle>
          <a:p>
            <a:fld id="{C5665B36-4B68-4038-B04C-4259637837E9}" type="datetimeFigureOut">
              <a:rPr lang="en-US" smtClean="0"/>
              <a:pPr/>
              <a:t>8/11/2025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9" y="8829997"/>
            <a:ext cx="3037628" cy="464820"/>
          </a:xfrm>
          <a:prstGeom prst="rect">
            <a:avLst/>
          </a:prstGeom>
        </p:spPr>
        <p:txBody>
          <a:bodyPr vert="horz" lIns="91470" tIns="45737" rIns="91470" bIns="4573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1188" y="8829997"/>
            <a:ext cx="3037628" cy="464820"/>
          </a:xfrm>
          <a:prstGeom prst="rect">
            <a:avLst/>
          </a:prstGeom>
        </p:spPr>
        <p:txBody>
          <a:bodyPr vert="horz" lIns="91470" tIns="45737" rIns="91470" bIns="45737" rtlCol="0" anchor="b"/>
          <a:lstStyle>
            <a:lvl1pPr algn="r">
              <a:defRPr sz="1200"/>
            </a:lvl1pPr>
          </a:lstStyle>
          <a:p>
            <a:fld id="{D13542EC-0850-4146-A731-B7F0AE82D52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6159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9" y="2"/>
            <a:ext cx="3037628" cy="464820"/>
          </a:xfrm>
          <a:prstGeom prst="rect">
            <a:avLst/>
          </a:prstGeom>
        </p:spPr>
        <p:txBody>
          <a:bodyPr vert="horz" lIns="92989" tIns="46494" rIns="92989" bIns="46494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188" y="2"/>
            <a:ext cx="3037628" cy="464820"/>
          </a:xfrm>
          <a:prstGeom prst="rect">
            <a:avLst/>
          </a:prstGeom>
        </p:spPr>
        <p:txBody>
          <a:bodyPr vert="horz" lIns="92989" tIns="46494" rIns="92989" bIns="46494" rtlCol="0"/>
          <a:lstStyle>
            <a:lvl1pPr algn="r">
              <a:defRPr sz="1200"/>
            </a:lvl1pPr>
          </a:lstStyle>
          <a:p>
            <a:pPr>
              <a:defRPr/>
            </a:pPr>
            <a:fld id="{B899B9D9-9514-4BB5-BD1B-84C8C666A399}" type="datetimeFigureOut">
              <a:rPr lang="en-US"/>
              <a:pPr>
                <a:defRPr/>
              </a:pPr>
              <a:t>8/11/2025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89" tIns="46494" rIns="92989" bIns="46494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360" y="4415798"/>
            <a:ext cx="5607684" cy="4183380"/>
          </a:xfrm>
          <a:prstGeom prst="rect">
            <a:avLst/>
          </a:prstGeom>
        </p:spPr>
        <p:txBody>
          <a:bodyPr vert="horz" lIns="92989" tIns="46494" rIns="92989" bIns="46494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9" y="8829997"/>
            <a:ext cx="3037628" cy="464820"/>
          </a:xfrm>
          <a:prstGeom prst="rect">
            <a:avLst/>
          </a:prstGeom>
        </p:spPr>
        <p:txBody>
          <a:bodyPr vert="horz" lIns="92989" tIns="46494" rIns="92989" bIns="46494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188" y="8829997"/>
            <a:ext cx="3037628" cy="464820"/>
          </a:xfrm>
          <a:prstGeom prst="rect">
            <a:avLst/>
          </a:prstGeom>
        </p:spPr>
        <p:txBody>
          <a:bodyPr vert="horz" lIns="92989" tIns="46494" rIns="92989" bIns="46494" rtlCol="0" anchor="b"/>
          <a:lstStyle>
            <a:lvl1pPr algn="r">
              <a:defRPr sz="1200"/>
            </a:lvl1pPr>
          </a:lstStyle>
          <a:p>
            <a:pPr>
              <a:defRPr/>
            </a:pPr>
            <a:fld id="{6DD86180-870F-4C4E-80A9-4C1C75E40D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4731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539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196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185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3685A-BE57-D9EB-8DA2-748ED3FC0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D7384-F95B-069A-B682-43386B2A1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7C6AB-E4FE-2C56-A94F-9084CC4168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DD2FD-9207-86FB-F78D-4AE533F211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640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4276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6465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0030C-7792-FBD1-14B5-65E55E10E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0381C-2A45-9844-53C0-B2D2CF655C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8B3A0D-90C8-7865-9E89-B73D89FE5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07AD7-BCB8-7C2D-0EFE-6BE8CFA20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3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869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159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8858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3563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8165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8777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4782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9091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5526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8233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3329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485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232E420-7A3D-42C3-8264-B5BCFC0A391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A890F-08BD-4227-B960-C236C3729ED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34880E-BE94-4AD5-ABF2-077AEC65D94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F0BC1-900A-47A7-B68B-80E16F4A2F5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B895C5-5B7E-4DA2-B36B-DA5C7BBD628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D4502B-7789-4E8F-BB3D-5A5CA3FEC2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6E41A-9738-42AF-AA10-C4A23CB8C35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709A0E-C91D-4C08-96DA-A9EF50F917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C7F986-FBD9-4779-89EA-1BAFE282271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0574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05200"/>
            <a:ext cx="7772400" cy="1752600"/>
          </a:xfrm>
        </p:spPr>
        <p:txBody>
          <a:bodyPr/>
          <a:lstStyle>
            <a:lvl1pPr marL="0" indent="0" algn="ctr">
              <a:buFont typeface="Wingdings" pitchFamily="124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pic>
        <p:nvPicPr>
          <p:cNvPr id="3079" name="Picture 7" descr="footerdar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76975"/>
            <a:ext cx="9144000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29079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76331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65879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87691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91210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72790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4747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72291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43110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21584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6145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232E420-7A3D-42C3-8264-B5BCFC0A391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68" r:id="rId1"/>
    <p:sldLayoutId id="2147484369" r:id="rId2"/>
    <p:sldLayoutId id="2147484370" r:id="rId3"/>
    <p:sldLayoutId id="2147484371" r:id="rId4"/>
    <p:sldLayoutId id="2147484372" r:id="rId5"/>
    <p:sldLayoutId id="2147484373" r:id="rId6"/>
    <p:sldLayoutId id="2147484374" r:id="rId7"/>
    <p:sldLayoutId id="2147484375" r:id="rId8"/>
    <p:sldLayoutId id="2147484376" r:id="rId9"/>
    <p:sldLayoutId id="2147484377" r:id="rId10"/>
    <p:sldLayoutId id="2147484378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D700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D700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D700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D700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bg1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 descr="footerdark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76975"/>
            <a:ext cx="9144000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6476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80" r:id="rId1"/>
    <p:sldLayoutId id="2147484381" r:id="rId2"/>
    <p:sldLayoutId id="2147484382" r:id="rId3"/>
    <p:sldLayoutId id="2147484383" r:id="rId4"/>
    <p:sldLayoutId id="2147484384" r:id="rId5"/>
    <p:sldLayoutId id="2147484385" r:id="rId6"/>
    <p:sldLayoutId id="2147484386" r:id="rId7"/>
    <p:sldLayoutId id="2147484387" r:id="rId8"/>
    <p:sldLayoutId id="2147484388" r:id="rId9"/>
    <p:sldLayoutId id="2147484389" r:id="rId10"/>
    <p:sldLayoutId id="2147484390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24" charset="0"/>
          <a:ea typeface="MS Pゴシック" pitchFamily="-92" charset="-128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24" charset="0"/>
          <a:ea typeface="MS Pゴシック" pitchFamily="-92" charset="-128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24" charset="0"/>
          <a:ea typeface="MS Pゴシック" pitchFamily="-92" charset="-128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24" charset="0"/>
          <a:ea typeface="MS Pゴシック" pitchFamily="-92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24" charset="0"/>
          <a:ea typeface="MS Pゴシック" pitchFamily="-92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24" charset="0"/>
          <a:ea typeface="MS Pゴシック" pitchFamily="-92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24" charset="0"/>
          <a:ea typeface="MS Pゴシック" pitchFamily="-92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24" charset="0"/>
          <a:ea typeface="MS Pゴシック" pitchFamily="-92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Wingdings" pitchFamily="124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itchFamily="124" charset="2"/>
        <a:buChar char="§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Wingdings" pitchFamily="124" charset="2"/>
        <a:buChar char="§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Wingdings" pitchFamily="124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Wingdings" pitchFamily="124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itchFamily="124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itchFamily="124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itchFamily="124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itchFamily="124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ngelvillegascruz.github.io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circ.rochester.edu/angel.villegascruz/2025-circ-r-course-avc" TargetMode="Externa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osit.co/download/rstudio-desktop/" TargetMode="External"/><Relationship Id="rId2" Type="http://schemas.openxmlformats.org/officeDocument/2006/relationships/hyperlink" Target="https://cran.rstudio.com/" TargetMode="Externa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8C60A0-0BDA-9D1B-0CA6-A6508465F6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 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EE6C766-73C9-57D2-BD19-1F75521EAA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CIRC Summer School</a:t>
            </a:r>
          </a:p>
          <a:p>
            <a:r>
              <a:rPr lang="en-US" sz="2400" dirty="0"/>
              <a:t>August 12-14, 2025</a:t>
            </a:r>
          </a:p>
          <a:p>
            <a:r>
              <a:rPr lang="en-US" sz="2400" dirty="0"/>
              <a:t>Angel M. Villegas-Cruz</a:t>
            </a:r>
          </a:p>
        </p:txBody>
      </p:sp>
    </p:spTree>
    <p:extLst>
      <p:ext uri="{BB962C8B-B14F-4D97-AF65-F5344CB8AC3E}">
        <p14:creationId xmlns:p14="http://schemas.microsoft.com/office/powerpoint/2010/main" val="915363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85D170-B1F1-C7CB-F6F5-1BD2E2B04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E79026-746F-2DF7-5EE5-614EB3A60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4343400"/>
          </a:xfrm>
        </p:spPr>
        <p:txBody>
          <a:bodyPr/>
          <a:lstStyle/>
          <a:p>
            <a:r>
              <a:rPr lang="en-US" dirty="0"/>
              <a:t>Exploring the basics of R programming</a:t>
            </a:r>
          </a:p>
          <a:p>
            <a:r>
              <a:rPr lang="en-US" dirty="0"/>
              <a:t>Learning some fundamentals about how coding languages work</a:t>
            </a:r>
          </a:p>
          <a:p>
            <a:r>
              <a:rPr lang="en-US" dirty="0"/>
              <a:t>Performing common data analysis activities</a:t>
            </a:r>
          </a:p>
          <a:p>
            <a:endParaRPr lang="en-US" dirty="0"/>
          </a:p>
          <a:p>
            <a:r>
              <a:rPr lang="en-US" dirty="0"/>
              <a:t>Overall goal</a:t>
            </a:r>
          </a:p>
          <a:p>
            <a:pPr lvl="1"/>
            <a:r>
              <a:rPr lang="en-US" dirty="0"/>
              <a:t>Learn something, not everything!</a:t>
            </a:r>
          </a:p>
        </p:txBody>
      </p:sp>
    </p:spTree>
    <p:extLst>
      <p:ext uri="{BB962C8B-B14F-4D97-AF65-F5344CB8AC3E}">
        <p14:creationId xmlns:p14="http://schemas.microsoft.com/office/powerpoint/2010/main" val="70556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F6796-7C47-3217-D9C0-539703399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0C70A7-EDAA-4D4A-1E2C-31543B2B2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46E734-E5BD-2B17-0F03-901C912DC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57300"/>
            <a:ext cx="7772400" cy="4533900"/>
          </a:xfrm>
        </p:spPr>
        <p:txBody>
          <a:bodyPr/>
          <a:lstStyle/>
          <a:p>
            <a:r>
              <a:rPr lang="en-US" sz="2800" dirty="0"/>
              <a:t>Angel M. Villegas-Cruz</a:t>
            </a:r>
          </a:p>
          <a:p>
            <a:r>
              <a:rPr lang="en-US" sz="2800" dirty="0"/>
              <a:t>Senior Institutional Research Analyst in the Office of Data Insights and Reporting</a:t>
            </a:r>
          </a:p>
          <a:p>
            <a:pPr lvl="1"/>
            <a:r>
              <a:rPr lang="en-US" sz="2400" dirty="0"/>
              <a:t>~1 year at U of R</a:t>
            </a:r>
          </a:p>
          <a:p>
            <a:r>
              <a:rPr lang="en-US" sz="2800" dirty="0"/>
              <a:t>Ph.D. in Political Science and Asian Studies from Penn State</a:t>
            </a:r>
          </a:p>
          <a:p>
            <a:pPr lvl="1"/>
            <a:r>
              <a:rPr lang="en-US" sz="2400" dirty="0"/>
              <a:t>Quantitative analysis and computational social science</a:t>
            </a:r>
            <a:endParaRPr lang="en-US" sz="2800" dirty="0"/>
          </a:p>
          <a:p>
            <a:r>
              <a:rPr lang="en-US" sz="2800" dirty="0"/>
              <a:t>More information here: </a:t>
            </a:r>
            <a:r>
              <a:rPr lang="en-US" sz="2800" dirty="0">
                <a:hlinkClick r:id="rId3"/>
              </a:rPr>
              <a:t>https://angelvillegascruz.github.io/</a:t>
            </a:r>
            <a:r>
              <a:rPr lang="en-US" sz="2800" dirty="0"/>
              <a:t>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45589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69701-69F4-477E-A349-D8BC977B5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53839-903A-A70E-DABE-D32C408BC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Name?</a:t>
            </a:r>
          </a:p>
          <a:p>
            <a:r>
              <a:rPr lang="en-US" dirty="0"/>
              <a:t>Experience with R?</a:t>
            </a:r>
          </a:p>
          <a:p>
            <a:r>
              <a:rPr lang="en-US" dirty="0"/>
              <a:t>Experience with other programming languages or statistical software? </a:t>
            </a:r>
          </a:p>
          <a:p>
            <a:pPr lvl="1"/>
            <a:r>
              <a:rPr lang="en-US" dirty="0"/>
              <a:t>C++, SQL, Python, </a:t>
            </a:r>
            <a:r>
              <a:rPr lang="en-US" sz="2800" dirty="0"/>
              <a:t>JavaScript, </a:t>
            </a:r>
            <a:r>
              <a:rPr lang="en-US" dirty="0"/>
              <a:t>STATA, SPSS, SAS, MATLAB, etc.</a:t>
            </a:r>
          </a:p>
          <a:p>
            <a:r>
              <a:rPr lang="en-US" dirty="0"/>
              <a:t>Experience with data science?</a:t>
            </a:r>
          </a:p>
        </p:txBody>
      </p:sp>
    </p:spTree>
    <p:extLst>
      <p:ext uri="{BB962C8B-B14F-4D97-AF65-F5344CB8AC3E}">
        <p14:creationId xmlns:p14="http://schemas.microsoft.com/office/powerpoint/2010/main" val="187187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B2AF3-03B2-80E4-CA56-DC1B2C899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Coding Fundamentals: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727C5-3C82-629F-050C-50017DF20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Your computer only understands machine code (1s and zeros)</a:t>
            </a:r>
          </a:p>
          <a:p>
            <a:r>
              <a:rPr lang="en-US" sz="2800" dirty="0"/>
              <a:t>All coding languages are essentially three things:</a:t>
            </a:r>
          </a:p>
          <a:p>
            <a:pPr lvl="1"/>
            <a:r>
              <a:rPr lang="en-US" sz="2400" dirty="0"/>
              <a:t>The language itself (a set of keywords and syntax rules)</a:t>
            </a:r>
          </a:p>
          <a:p>
            <a:pPr lvl="1"/>
            <a:r>
              <a:rPr lang="en-US" sz="2400" dirty="0"/>
              <a:t>A way to translate human language into machine code that your machine can run</a:t>
            </a:r>
          </a:p>
          <a:p>
            <a:pPr lvl="1"/>
            <a:r>
              <a:rPr lang="en-US" sz="2400" dirty="0"/>
              <a:t>Often, but not always, a standard library (a bunch of pre-written code for that language that covers basic usage that most people need)</a:t>
            </a:r>
          </a:p>
        </p:txBody>
      </p:sp>
    </p:spTree>
    <p:extLst>
      <p:ext uri="{BB962C8B-B14F-4D97-AF65-F5344CB8AC3E}">
        <p14:creationId xmlns:p14="http://schemas.microsoft.com/office/powerpoint/2010/main" val="2103341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15992-2969-1707-C483-AC97B3860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C6EF4-4F82-99F3-7793-2066E6918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Coding Fundamentals: </a:t>
            </a:r>
            <a:br>
              <a:rPr lang="en-US" sz="3200" dirty="0"/>
            </a:br>
            <a:r>
              <a:rPr lang="en-US" sz="3200" dirty="0"/>
              <a:t>Compiled vs Interpreted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44B96-1DAA-3E91-A8E6-8B2348CD2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/>
              <a:t>Compiled: (C, C++, Rust, Go, Fortran)</a:t>
            </a:r>
          </a:p>
          <a:p>
            <a:pPr lvl="1"/>
            <a:r>
              <a:rPr lang="en-US" sz="2000" dirty="0"/>
              <a:t>Compiler converts your entire program to an executable file</a:t>
            </a:r>
          </a:p>
          <a:p>
            <a:pPr lvl="1"/>
            <a:r>
              <a:rPr lang="en-US" sz="2000" dirty="0"/>
              <a:t>Compiler never sees the program “run”</a:t>
            </a:r>
          </a:p>
          <a:p>
            <a:pPr lvl="1"/>
            <a:r>
              <a:rPr lang="en-US" sz="2000" dirty="0"/>
              <a:t>They offer faster execution speed, but hard to troubleshoot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600" dirty="0"/>
              <a:t>Interpreted: (R, Python, Ruby, PHP, Bash, JavaScript)</a:t>
            </a:r>
          </a:p>
          <a:p>
            <a:pPr lvl="1"/>
            <a:r>
              <a:rPr lang="en-US" sz="2000" dirty="0"/>
              <a:t>Interpreter translates and executes your program line by line</a:t>
            </a:r>
          </a:p>
          <a:p>
            <a:pPr lvl="1"/>
            <a:r>
              <a:rPr lang="en-US" sz="2000" dirty="0"/>
              <a:t>Interpreter constantly runs, and your program runs “through” it</a:t>
            </a:r>
          </a:p>
          <a:p>
            <a:pPr lvl="1"/>
            <a:r>
              <a:rPr lang="en-US" sz="2000" dirty="0"/>
              <a:t>They are slower but easier to troubleshoot</a:t>
            </a:r>
          </a:p>
        </p:txBody>
      </p:sp>
    </p:spTree>
    <p:extLst>
      <p:ext uri="{BB962C8B-B14F-4D97-AF65-F5344CB8AC3E}">
        <p14:creationId xmlns:p14="http://schemas.microsoft.com/office/powerpoint/2010/main" val="3032160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B4119-B305-849E-3000-3D26057A3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F8EC0-8AA4-928D-D8F6-3A9FCC9C5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Programming language based on S</a:t>
            </a:r>
          </a:p>
          <a:p>
            <a:pPr lvl="1"/>
            <a:r>
              <a:rPr lang="en-US" sz="2400" dirty="0"/>
              <a:t>Created by Ross Ihaka and Robert Gentleman as a “free” version of S in the 1990s</a:t>
            </a:r>
          </a:p>
          <a:p>
            <a:r>
              <a:rPr lang="en-US" sz="2800" dirty="0"/>
              <a:t>Interpreted language</a:t>
            </a:r>
          </a:p>
          <a:p>
            <a:r>
              <a:rPr lang="en-US" sz="2800" dirty="0"/>
              <a:t>Excellent for statistical and graphical techniques</a:t>
            </a:r>
          </a:p>
          <a:p>
            <a:pPr lvl="1"/>
            <a:r>
              <a:rPr lang="en-US" sz="2400" dirty="0"/>
              <a:t>Linear and nonlinear modeling, classical statistical tests, time-series analysis, classification, clustering, etc.</a:t>
            </a:r>
          </a:p>
          <a:p>
            <a:pPr lvl="1"/>
            <a:r>
              <a:rPr lang="en-US" sz="2400" dirty="0"/>
              <a:t>Popular among data scientists, statisticians, academics, researchers, etc.</a:t>
            </a:r>
          </a:p>
        </p:txBody>
      </p:sp>
    </p:spTree>
    <p:extLst>
      <p:ext uri="{BB962C8B-B14F-4D97-AF65-F5344CB8AC3E}">
        <p14:creationId xmlns:p14="http://schemas.microsoft.com/office/powerpoint/2010/main" val="2930667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6FD4F-C917-378A-20C1-8D30B7605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90500"/>
            <a:ext cx="7772400" cy="1143000"/>
          </a:xfrm>
        </p:spPr>
        <p:txBody>
          <a:bodyPr/>
          <a:lstStyle/>
          <a:p>
            <a:r>
              <a:rPr lang="en-US" sz="4000" dirty="0"/>
              <a:t>Coding Fundamentals: 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F2684-74C6-FAB6-5C3C-980EC7F38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71600"/>
            <a:ext cx="7772400" cy="4800600"/>
          </a:xfrm>
        </p:spPr>
        <p:txBody>
          <a:bodyPr/>
          <a:lstStyle/>
          <a:p>
            <a:r>
              <a:rPr lang="en-US" sz="2400" dirty="0"/>
              <a:t>If you want to type an essay, you use Microsoft Word</a:t>
            </a:r>
          </a:p>
          <a:p>
            <a:endParaRPr lang="en-US" sz="2400" dirty="0"/>
          </a:p>
          <a:p>
            <a:r>
              <a:rPr lang="en-US" sz="2400" dirty="0"/>
              <a:t>If you want to type code, you use an Integrated Development Environment (IDE). This will usually include:</a:t>
            </a:r>
          </a:p>
          <a:p>
            <a:pPr lvl="1"/>
            <a:r>
              <a:rPr lang="en-US" sz="2000" dirty="0"/>
              <a:t>A file browser</a:t>
            </a:r>
          </a:p>
          <a:p>
            <a:pPr lvl="1"/>
            <a:r>
              <a:rPr lang="en-US" sz="2000" dirty="0"/>
              <a:t>A file editor (syntax highlighting)</a:t>
            </a:r>
          </a:p>
          <a:p>
            <a:pPr lvl="1"/>
            <a:r>
              <a:rPr lang="en-US" sz="2000" dirty="0"/>
              <a:t>A terminal window</a:t>
            </a:r>
          </a:p>
          <a:p>
            <a:r>
              <a:rPr lang="en-US" sz="2400" dirty="0"/>
              <a:t>Other various code-specific windows (like a “console”)</a:t>
            </a:r>
          </a:p>
          <a:p>
            <a:pPr lvl="1"/>
            <a:r>
              <a:rPr lang="en-US" sz="2000" dirty="0"/>
              <a:t>Examples:</a:t>
            </a:r>
          </a:p>
          <a:p>
            <a:pPr lvl="2"/>
            <a:r>
              <a:rPr lang="en-US" sz="2000" dirty="0"/>
              <a:t> RStudio (designed for R)</a:t>
            </a:r>
          </a:p>
          <a:p>
            <a:pPr lvl="2"/>
            <a:r>
              <a:rPr lang="en-US" sz="2000" dirty="0"/>
              <a:t>VS Code (general purpose, extension-based IDE)</a:t>
            </a:r>
          </a:p>
        </p:txBody>
      </p:sp>
    </p:spTree>
    <p:extLst>
      <p:ext uri="{BB962C8B-B14F-4D97-AF65-F5344CB8AC3E}">
        <p14:creationId xmlns:p14="http://schemas.microsoft.com/office/powerpoint/2010/main" val="192410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C2EE3-432A-80D0-9FC6-144B591C6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RStudio?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8A6B0-05DC-B682-6FA3-C5CB64995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2010: Developed by J. J. Allaire as a free and open-source integrated development environment (IDE)</a:t>
            </a:r>
          </a:p>
          <a:p>
            <a:r>
              <a:rPr lang="en-US" dirty="0"/>
              <a:t>2022: Rebranded to “Posit” to signify their expansion to data science in all languages</a:t>
            </a:r>
          </a:p>
          <a:p>
            <a:pPr lvl="1"/>
            <a:r>
              <a:rPr lang="en-US" dirty="0"/>
              <a:t>Have a large library of open-source tools and enterprise services</a:t>
            </a:r>
          </a:p>
        </p:txBody>
      </p:sp>
    </p:spTree>
    <p:extLst>
      <p:ext uri="{BB962C8B-B14F-4D97-AF65-F5344CB8AC3E}">
        <p14:creationId xmlns:p14="http://schemas.microsoft.com/office/powerpoint/2010/main" val="2040911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C99D5-EE1B-AF6C-E72C-DEB61F221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A7699-A2AF-099C-0FF1-1B2D79DF5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50E3E-ED5E-149F-4A5B-D63FBF5C9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Highly extensible</a:t>
            </a:r>
          </a:p>
          <a:p>
            <a:pPr lvl="1"/>
            <a:r>
              <a:rPr lang="en-US" sz="2400" dirty="0"/>
              <a:t>Comprehensive R Archive Network (CRAN)</a:t>
            </a:r>
          </a:p>
          <a:p>
            <a:r>
              <a:rPr lang="en-US" sz="2800" dirty="0"/>
              <a:t>Easy to install R packages</a:t>
            </a:r>
          </a:p>
          <a:p>
            <a:pPr lvl="1"/>
            <a:r>
              <a:rPr lang="en-US" sz="2400" dirty="0"/>
              <a:t>Examples: </a:t>
            </a:r>
            <a:r>
              <a:rPr lang="en-US" sz="2400" dirty="0" err="1"/>
              <a:t>tidyverse</a:t>
            </a:r>
            <a:r>
              <a:rPr lang="en-US" sz="2400" dirty="0"/>
              <a:t>, </a:t>
            </a:r>
            <a:r>
              <a:rPr lang="en-US" sz="2400" dirty="0" err="1"/>
              <a:t>dplyr</a:t>
            </a:r>
            <a:r>
              <a:rPr lang="en-US" sz="2400" dirty="0"/>
              <a:t>, ggplot2, </a:t>
            </a:r>
            <a:r>
              <a:rPr lang="en-US" sz="2400" dirty="0" err="1"/>
              <a:t>stringr</a:t>
            </a:r>
            <a:r>
              <a:rPr lang="en-US" sz="2400" dirty="0"/>
              <a:t>, etc.</a:t>
            </a:r>
          </a:p>
          <a:p>
            <a:r>
              <a:rPr lang="en-US" sz="2800" dirty="0"/>
              <a:t>Other tools</a:t>
            </a:r>
          </a:p>
          <a:p>
            <a:pPr lvl="1"/>
            <a:r>
              <a:rPr lang="en-US" sz="2400" dirty="0"/>
              <a:t>R Markdown</a:t>
            </a:r>
          </a:p>
          <a:p>
            <a:pPr lvl="1"/>
            <a:r>
              <a:rPr lang="en-US" sz="2400" dirty="0"/>
              <a:t>R Shiny</a:t>
            </a:r>
          </a:p>
          <a:p>
            <a:pPr lvl="1"/>
            <a:r>
              <a:rPr lang="en-US" sz="2400" i="1" dirty="0"/>
              <a:t>The R Journal </a:t>
            </a:r>
          </a:p>
        </p:txBody>
      </p:sp>
    </p:spTree>
    <p:extLst>
      <p:ext uri="{BB962C8B-B14F-4D97-AF65-F5344CB8AC3E}">
        <p14:creationId xmlns:p14="http://schemas.microsoft.com/office/powerpoint/2010/main" val="669807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7B853-533E-9587-C139-D9F299EA6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is Portable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13D33-31FE-A6C7-4539-097992922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Runs on Desktop systems (Mac OS X, Windows, Linux, BSD, etc.)</a:t>
            </a:r>
          </a:p>
          <a:p>
            <a:r>
              <a:rPr lang="en-US" dirty="0"/>
              <a:t>Apps for iOS and Android</a:t>
            </a:r>
          </a:p>
          <a:p>
            <a:r>
              <a:rPr lang="en-US" dirty="0"/>
              <a:t>Graphical User Interface (GUI) not required</a:t>
            </a:r>
          </a:p>
          <a:p>
            <a:r>
              <a:rPr lang="en-US" dirty="0"/>
              <a:t>Runs on Linux clusters and supercomputers</a:t>
            </a:r>
          </a:p>
          <a:p>
            <a:pPr lvl="1"/>
            <a:r>
              <a:rPr lang="en-US" dirty="0" err="1"/>
              <a:t>BlueHive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572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row of black computer servers&#10;&#10;AI-generated content may be incorrect.">
            <a:extLst>
              <a:ext uri="{FF2B5EF4-FFF2-40B4-BE49-F238E27FC236}">
                <a16:creationId xmlns:a16="http://schemas.microsoft.com/office/drawing/2014/main" id="{9EB7567F-9A0F-AEED-548C-79F30DACE4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08" r="2" b="4244"/>
          <a:stretch>
            <a:fillRect/>
          </a:stretch>
        </p:blipFill>
        <p:spPr>
          <a:xfrm>
            <a:off x="90488" y="68263"/>
            <a:ext cx="8963025" cy="6140450"/>
          </a:xfrm>
          <a:noFill/>
        </p:spPr>
      </p:pic>
    </p:spTree>
    <p:extLst>
      <p:ext uri="{BB962C8B-B14F-4D97-AF65-F5344CB8AC3E}">
        <p14:creationId xmlns:p14="http://schemas.microsoft.com/office/powerpoint/2010/main" val="3275645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A45E0-D7C6-3415-6D78-DB3E8A4BB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BlueHive</a:t>
            </a:r>
            <a:r>
              <a:rPr lang="en-US" dirty="0"/>
              <a:t> Specifications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A4685-18E0-EA1B-F88F-48A39498B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CIRC’s primary Linux cluster for demanding computations</a:t>
            </a:r>
          </a:p>
          <a:p>
            <a:pPr lvl="1"/>
            <a:r>
              <a:rPr lang="en-US" dirty="0"/>
              <a:t>General Compute Nodes</a:t>
            </a:r>
          </a:p>
          <a:p>
            <a:pPr lvl="2"/>
            <a:r>
              <a:rPr lang="en-US" dirty="0"/>
              <a:t>Approximately 480 compute nodes</a:t>
            </a:r>
          </a:p>
          <a:p>
            <a:pPr lvl="2"/>
            <a:r>
              <a:rPr lang="en-US" dirty="0"/>
              <a:t>96 cores per node</a:t>
            </a:r>
          </a:p>
          <a:p>
            <a:pPr lvl="2"/>
            <a:r>
              <a:rPr lang="en-US" dirty="0"/>
              <a:t>Ranges in memory from 20 GB to 3TB</a:t>
            </a:r>
          </a:p>
          <a:p>
            <a:endParaRPr lang="en-US" dirty="0"/>
          </a:p>
          <a:p>
            <a:r>
              <a:rPr lang="en-US" dirty="0"/>
              <a:t>You can run R on </a:t>
            </a:r>
            <a:r>
              <a:rPr lang="en-US" dirty="0" err="1"/>
              <a:t>BlueHive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547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187BFB-E059-E50C-E387-679508786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80" y="68263"/>
            <a:ext cx="8588041" cy="61404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95076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4C80E-29EA-4F27-6935-482B30E34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0366C-5070-DCDA-6CFD-EE1F61D55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800" dirty="0">
                <a:hlinkClick r:id="rId2"/>
              </a:rPr>
              <a:t>https://gitlab.circ.rochester.edu/</a:t>
            </a:r>
          </a:p>
          <a:p>
            <a:pPr marL="0" indent="0" algn="ctr">
              <a:buNone/>
            </a:pPr>
            <a:r>
              <a:rPr lang="en-US" sz="3800" dirty="0" err="1">
                <a:hlinkClick r:id="rId2"/>
              </a:rPr>
              <a:t>angel.villegascruz</a:t>
            </a:r>
            <a:r>
              <a:rPr lang="en-US" sz="3800" dirty="0">
                <a:hlinkClick r:id="rId2"/>
              </a:rPr>
              <a:t>/</a:t>
            </a:r>
          </a:p>
          <a:p>
            <a:pPr marL="0" indent="0" algn="ctr">
              <a:buNone/>
            </a:pPr>
            <a:r>
              <a:rPr lang="en-US" sz="3800" dirty="0">
                <a:hlinkClick r:id="rId2"/>
              </a:rPr>
              <a:t>2025-circ-r-course-avc</a:t>
            </a:r>
            <a:r>
              <a:rPr lang="en-US" sz="3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4066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A5499-AB0E-7DC7-E891-CC342D041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9132A-B0A6-AAEF-CA89-054E669AE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52600"/>
            <a:ext cx="7772400" cy="4114800"/>
          </a:xfrm>
        </p:spPr>
        <p:txBody>
          <a:bodyPr/>
          <a:lstStyle/>
          <a:p>
            <a:r>
              <a:rPr lang="en-US" dirty="0"/>
              <a:t>Installing R</a:t>
            </a:r>
          </a:p>
          <a:p>
            <a:pPr lvl="1"/>
            <a:r>
              <a:rPr lang="en-US" dirty="0"/>
              <a:t>Go to </a:t>
            </a:r>
            <a:r>
              <a:rPr lang="en-US" dirty="0">
                <a:hlinkClick r:id="rId2"/>
              </a:rPr>
              <a:t>https://cran.rstudio.com/</a:t>
            </a:r>
            <a:r>
              <a:rPr lang="en-US" dirty="0"/>
              <a:t> and download the latest version of R for your </a:t>
            </a:r>
            <a:r>
              <a:rPr lang="en-US" dirty="0" err="1"/>
              <a:t>os</a:t>
            </a:r>
            <a:endParaRPr lang="en-US" dirty="0"/>
          </a:p>
          <a:p>
            <a:endParaRPr lang="en-US" dirty="0"/>
          </a:p>
          <a:p>
            <a:r>
              <a:rPr lang="en-US" dirty="0"/>
              <a:t>Installing RStudio Desktop</a:t>
            </a:r>
          </a:p>
          <a:p>
            <a:pPr lvl="1"/>
            <a:r>
              <a:rPr lang="en-US" dirty="0"/>
              <a:t>Go to </a:t>
            </a:r>
            <a:r>
              <a:rPr lang="en-US" dirty="0">
                <a:hlinkClick r:id="rId3"/>
              </a:rPr>
              <a:t>https://posit.co/download/rstudio-desktop/</a:t>
            </a:r>
            <a:r>
              <a:rPr lang="en-US" dirty="0"/>
              <a:t> and download the latest RStudio desktop</a:t>
            </a:r>
          </a:p>
        </p:txBody>
      </p:sp>
    </p:spTree>
    <p:extLst>
      <p:ext uri="{BB962C8B-B14F-4D97-AF65-F5344CB8AC3E}">
        <p14:creationId xmlns:p14="http://schemas.microsoft.com/office/powerpoint/2010/main" val="3875948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59D94-A14D-F3B6-5062-93744F405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CCA58-3D88-6467-D793-CAF62ED4C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the file </a:t>
            </a:r>
            <a:r>
              <a:rPr lang="en-US" dirty="0">
                <a:solidFill>
                  <a:srgbClr val="C00000"/>
                </a:solidFill>
              </a:rPr>
              <a:t>examples/1_r_cmd_line.R </a:t>
            </a:r>
            <a:r>
              <a:rPr lang="en-US" dirty="0"/>
              <a:t>and it will open with RStudio</a:t>
            </a:r>
          </a:p>
          <a:p>
            <a:endParaRPr lang="en-US" dirty="0"/>
          </a:p>
          <a:p>
            <a:r>
              <a:rPr lang="en-US" dirty="0"/>
              <a:t>You will find windows with:</a:t>
            </a:r>
          </a:p>
          <a:p>
            <a:pPr lvl="1"/>
            <a:r>
              <a:rPr lang="en-US" sz="2600" dirty="0"/>
              <a:t>Text editor (R script)</a:t>
            </a:r>
          </a:p>
          <a:p>
            <a:pPr lvl="1"/>
            <a:r>
              <a:rPr lang="en-US" sz="2600" dirty="0"/>
              <a:t>Console and a Terminal</a:t>
            </a:r>
          </a:p>
          <a:p>
            <a:pPr lvl="1"/>
            <a:r>
              <a:rPr lang="en-US" sz="2600" dirty="0"/>
              <a:t>File browser</a:t>
            </a:r>
          </a:p>
          <a:p>
            <a:pPr lvl="1"/>
            <a:r>
              <a:rPr lang="en-US" sz="2600" dirty="0"/>
              <a:t>Current “environment”</a:t>
            </a:r>
          </a:p>
        </p:txBody>
      </p:sp>
    </p:spTree>
    <p:extLst>
      <p:ext uri="{BB962C8B-B14F-4D97-AF65-F5344CB8AC3E}">
        <p14:creationId xmlns:p14="http://schemas.microsoft.com/office/powerpoint/2010/main" val="1694346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7D444-30E4-ACD4-7183-CACD725A2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 and Basic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AB1C5-4D80-1228-6D13-791BC4AAA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An object is data stored in the computer</a:t>
            </a:r>
          </a:p>
          <a:p>
            <a:r>
              <a:rPr lang="en-US" sz="2400" dirty="0"/>
              <a:t>If we want to be able to reference this object later, we can assign it a name using the assignment operator</a:t>
            </a:r>
          </a:p>
          <a:p>
            <a:pPr lvl="1"/>
            <a:r>
              <a:rPr lang="en-US" sz="2000" dirty="0"/>
              <a:t>&lt;- or =</a:t>
            </a:r>
          </a:p>
          <a:p>
            <a:r>
              <a:rPr lang="en-US" sz="2400" dirty="0"/>
              <a:t>Each object has a type. Basic data types:</a:t>
            </a:r>
          </a:p>
          <a:p>
            <a:pPr lvl="1"/>
            <a:r>
              <a:rPr lang="en-US" sz="2000" b="1" dirty="0"/>
              <a:t>Numeric or doubles</a:t>
            </a:r>
            <a:r>
              <a:rPr lang="en-US" sz="2000" dirty="0"/>
              <a:t>: 5 or 2.3</a:t>
            </a:r>
          </a:p>
          <a:p>
            <a:pPr lvl="1"/>
            <a:r>
              <a:rPr lang="en-US" sz="2000" b="1" dirty="0"/>
              <a:t>Integer</a:t>
            </a:r>
            <a:r>
              <a:rPr lang="en-US" sz="2000" dirty="0"/>
              <a:t>: 5L or 10L</a:t>
            </a:r>
          </a:p>
          <a:p>
            <a:pPr lvl="1"/>
            <a:r>
              <a:rPr lang="en-US" sz="2000" b="1" dirty="0"/>
              <a:t>Complex</a:t>
            </a:r>
            <a:r>
              <a:rPr lang="en-US" sz="2000" dirty="0"/>
              <a:t>: (3 + 2i)</a:t>
            </a:r>
          </a:p>
          <a:p>
            <a:pPr lvl="1"/>
            <a:r>
              <a:rPr lang="en-US" sz="2000" b="1" dirty="0"/>
              <a:t>Character</a:t>
            </a:r>
            <a:r>
              <a:rPr lang="en-US" sz="2000" dirty="0"/>
              <a:t> or </a:t>
            </a:r>
            <a:r>
              <a:rPr lang="en-US" sz="2000" b="1" dirty="0"/>
              <a:t>String</a:t>
            </a:r>
            <a:r>
              <a:rPr lang="en-US" sz="2000" dirty="0"/>
              <a:t>: “hello” or “Canada”</a:t>
            </a:r>
          </a:p>
          <a:p>
            <a:pPr lvl="1"/>
            <a:r>
              <a:rPr lang="en-US" sz="2000" b="1" dirty="0"/>
              <a:t>Logical</a:t>
            </a:r>
            <a:r>
              <a:rPr lang="en-US" sz="2000" dirty="0"/>
              <a:t>: True or False</a:t>
            </a:r>
          </a:p>
        </p:txBody>
      </p:sp>
    </p:spTree>
    <p:extLst>
      <p:ext uri="{BB962C8B-B14F-4D97-AF65-F5344CB8AC3E}">
        <p14:creationId xmlns:p14="http://schemas.microsoft.com/office/powerpoint/2010/main" val="2495180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4399C-354B-BA45-D673-CECE27F13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Composite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70908-0B60-966F-5E5D-E7F3D8B1A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There are data types that can store several related objects:</a:t>
            </a:r>
          </a:p>
          <a:p>
            <a:pPr lvl="1"/>
            <a:r>
              <a:rPr lang="en-US" sz="2400" b="1" dirty="0"/>
              <a:t>Vectors</a:t>
            </a:r>
            <a:r>
              <a:rPr lang="en-US" sz="2400" dirty="0"/>
              <a:t>: 1-dimensional. all the same data type (homogeneous)</a:t>
            </a:r>
          </a:p>
          <a:p>
            <a:pPr lvl="1"/>
            <a:r>
              <a:rPr lang="en-US" sz="2400" b="1" dirty="0"/>
              <a:t>Factor</a:t>
            </a:r>
            <a:r>
              <a:rPr lang="en-US" sz="2400" dirty="0"/>
              <a:t>: a special type of vector for categorical data</a:t>
            </a:r>
          </a:p>
          <a:p>
            <a:pPr lvl="1"/>
            <a:r>
              <a:rPr lang="en-US" sz="2400" b="1" dirty="0"/>
              <a:t>List</a:t>
            </a:r>
            <a:r>
              <a:rPr lang="en-US" sz="2400" dirty="0"/>
              <a:t>: can be heterogeneous</a:t>
            </a:r>
          </a:p>
          <a:p>
            <a:pPr lvl="1"/>
            <a:r>
              <a:rPr lang="en-US" sz="2400" b="1" dirty="0"/>
              <a:t>Matrices</a:t>
            </a:r>
            <a:r>
              <a:rPr lang="en-US" sz="2400" dirty="0"/>
              <a:t>: 2-dim. homogenous</a:t>
            </a:r>
          </a:p>
          <a:p>
            <a:pPr lvl="1"/>
            <a:r>
              <a:rPr lang="en-US" sz="2400" b="1" dirty="0"/>
              <a:t>Arrays</a:t>
            </a:r>
            <a:r>
              <a:rPr lang="en-US" sz="2400" dirty="0"/>
              <a:t>: n-dim. homogenous</a:t>
            </a:r>
          </a:p>
          <a:p>
            <a:pPr lvl="1"/>
            <a:r>
              <a:rPr lang="en-US" sz="2400" b="1" dirty="0"/>
              <a:t>Data Frames</a:t>
            </a:r>
            <a:r>
              <a:rPr lang="en-US" sz="2400" dirty="0"/>
              <a:t>: homogeneous columns</a:t>
            </a:r>
          </a:p>
        </p:txBody>
      </p:sp>
    </p:spTree>
    <p:extLst>
      <p:ext uri="{BB962C8B-B14F-4D97-AF65-F5344CB8AC3E}">
        <p14:creationId xmlns:p14="http://schemas.microsoft.com/office/powerpoint/2010/main" val="3036051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67790-74B1-8890-B812-404836A17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F3D36-AB2F-CE51-8A5F-B2F61F694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the file </a:t>
            </a:r>
            <a:r>
              <a:rPr lang="en-US" dirty="0">
                <a:solidFill>
                  <a:srgbClr val="C00000"/>
                </a:solidFill>
              </a:rPr>
              <a:t>examples/2_objects_and_data_types.R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7623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B88733E-41D3-21FE-1C54-534CD5590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1017660"/>
            <a:ext cx="8963025" cy="424165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922272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5759B-1AF0-290F-4BC7-B34B9CB32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dirty="0"/>
              <a:t>Ifs, Loops, and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0B68B-8E96-4141-1A79-EB91837BA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38745"/>
            <a:ext cx="7772400" cy="4114800"/>
          </a:xfrm>
        </p:spPr>
        <p:txBody>
          <a:bodyPr/>
          <a:lstStyle/>
          <a:p>
            <a:r>
              <a:rPr lang="en-US" sz="2400" dirty="0"/>
              <a:t>Ifs </a:t>
            </a:r>
          </a:p>
          <a:p>
            <a:pPr lvl="1"/>
            <a:r>
              <a:rPr lang="en-US" sz="2200" dirty="0"/>
              <a:t>Conditional statements, such as if and else</a:t>
            </a:r>
          </a:p>
          <a:p>
            <a:r>
              <a:rPr lang="en-US" sz="2400" dirty="0"/>
              <a:t>Loops</a:t>
            </a:r>
          </a:p>
          <a:p>
            <a:pPr lvl="1"/>
            <a:r>
              <a:rPr lang="en-US" sz="2200" dirty="0"/>
              <a:t>Repetition of code until a condition is met or a set number of times</a:t>
            </a:r>
          </a:p>
          <a:p>
            <a:pPr lvl="1"/>
            <a:r>
              <a:rPr lang="en-US" sz="2200" dirty="0"/>
              <a:t>for loop: Iterates over a sequence</a:t>
            </a:r>
          </a:p>
          <a:p>
            <a:pPr lvl="1"/>
            <a:r>
              <a:rPr lang="en-US" sz="2200" dirty="0"/>
              <a:t>while loop: Repeats while a condition is TRUE</a:t>
            </a:r>
          </a:p>
          <a:p>
            <a:pPr lvl="1"/>
            <a:r>
              <a:rPr lang="en-US" sz="2200" dirty="0"/>
              <a:t>repeat loop: Runs indefinitely unless explicitly stopped</a:t>
            </a:r>
          </a:p>
          <a:p>
            <a:r>
              <a:rPr lang="en-US" sz="2400" dirty="0"/>
              <a:t>Functions </a:t>
            </a:r>
          </a:p>
          <a:p>
            <a:pPr lvl="1"/>
            <a:r>
              <a:rPr lang="en-US" sz="2200" dirty="0"/>
              <a:t>Blocks of reusable code that perform a task and may return a value</a:t>
            </a:r>
          </a:p>
        </p:txBody>
      </p:sp>
    </p:spTree>
    <p:extLst>
      <p:ext uri="{BB962C8B-B14F-4D97-AF65-F5344CB8AC3E}">
        <p14:creationId xmlns:p14="http://schemas.microsoft.com/office/powerpoint/2010/main" val="2795555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D7AEC-0DCB-B556-B273-0AD162E1D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7BE0C-19B4-D34A-8D4B-D6F5D31D5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3E650-549B-D6BF-0844-02D7F0D0A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the file </a:t>
            </a:r>
            <a:r>
              <a:rPr lang="en-US" dirty="0">
                <a:solidFill>
                  <a:srgbClr val="C00000"/>
                </a:solidFill>
              </a:rPr>
              <a:t>examples/3_functions_and_control.R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896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D67F99-B2E0-B935-392F-01CEF066B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8" y="1257854"/>
            <a:ext cx="8963025" cy="376126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377030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11336-6515-FB63-147D-FAC91D771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7103B-0674-AA8B-7B5C-18F934C2D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905000"/>
            <a:ext cx="7772400" cy="4114800"/>
          </a:xfrm>
        </p:spPr>
        <p:txBody>
          <a:bodyPr/>
          <a:lstStyle/>
          <a:p>
            <a:r>
              <a:rPr lang="en-US" sz="2400" dirty="0"/>
              <a:t>CSV files</a:t>
            </a:r>
          </a:p>
          <a:p>
            <a:pPr lvl="1"/>
            <a:r>
              <a:rPr lang="en-US" sz="2000" dirty="0"/>
              <a:t>read.csv() in base R</a:t>
            </a:r>
          </a:p>
          <a:p>
            <a:pPr lvl="1"/>
            <a:r>
              <a:rPr lang="en-US" sz="2000" dirty="0" err="1"/>
              <a:t>read_csv</a:t>
            </a:r>
            <a:r>
              <a:rPr lang="en-US" sz="2000" dirty="0"/>
              <a:t>() in </a:t>
            </a:r>
            <a:r>
              <a:rPr lang="en-US" sz="2000" dirty="0" err="1"/>
              <a:t>readr</a:t>
            </a:r>
            <a:r>
              <a:rPr lang="en-US" sz="2000" dirty="0"/>
              <a:t> package </a:t>
            </a:r>
          </a:p>
          <a:p>
            <a:r>
              <a:rPr lang="en-US" sz="2400" dirty="0"/>
              <a:t>Excel (.xlsx) files</a:t>
            </a:r>
          </a:p>
          <a:p>
            <a:pPr lvl="1"/>
            <a:r>
              <a:rPr lang="en-US" sz="2200" dirty="0" err="1"/>
              <a:t>read_excel</a:t>
            </a:r>
            <a:r>
              <a:rPr lang="en-US" sz="2200" dirty="0"/>
              <a:t>() in </a:t>
            </a:r>
            <a:r>
              <a:rPr lang="en-US" sz="2200" dirty="0" err="1"/>
              <a:t>readxl</a:t>
            </a:r>
            <a:r>
              <a:rPr lang="en-US" sz="2200" dirty="0"/>
              <a:t> package</a:t>
            </a:r>
          </a:p>
          <a:p>
            <a:r>
              <a:rPr lang="en-US" sz="2400" dirty="0"/>
              <a:t>Stata (.</a:t>
            </a:r>
            <a:r>
              <a:rPr lang="en-US" sz="2400" dirty="0" err="1"/>
              <a:t>dta</a:t>
            </a:r>
            <a:r>
              <a:rPr lang="en-US" sz="2400" dirty="0"/>
              <a:t>) files</a:t>
            </a:r>
          </a:p>
          <a:p>
            <a:pPr lvl="1"/>
            <a:r>
              <a:rPr lang="en-US" sz="2200" dirty="0" err="1"/>
              <a:t>read_dta</a:t>
            </a:r>
            <a:r>
              <a:rPr lang="en-US" sz="2200" dirty="0"/>
              <a:t>() in haven package </a:t>
            </a:r>
          </a:p>
          <a:p>
            <a:r>
              <a:rPr lang="en-US" sz="2400" dirty="0"/>
              <a:t>Txt. files</a:t>
            </a:r>
          </a:p>
          <a:p>
            <a:pPr lvl="1"/>
            <a:r>
              <a:rPr lang="en-US" sz="2200" dirty="0" err="1"/>
              <a:t>read_delim</a:t>
            </a:r>
            <a:r>
              <a:rPr lang="en-US" sz="2200" dirty="0"/>
              <a:t>() in </a:t>
            </a:r>
            <a:r>
              <a:rPr lang="en-US" sz="2200" dirty="0" err="1"/>
              <a:t>readr</a:t>
            </a:r>
            <a:r>
              <a:rPr lang="en-US" sz="2200" dirty="0"/>
              <a:t> package</a:t>
            </a:r>
          </a:p>
        </p:txBody>
      </p:sp>
    </p:spTree>
    <p:extLst>
      <p:ext uri="{BB962C8B-B14F-4D97-AF65-F5344CB8AC3E}">
        <p14:creationId xmlns:p14="http://schemas.microsoft.com/office/powerpoint/2010/main" val="13598006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02D2F-885D-0320-3A25-B13FDEC0D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0E6F5-3BEC-01C1-1D03-8A6159B4C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7D33D-C4C1-EE0E-915C-266F48B62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the file </a:t>
            </a:r>
            <a:r>
              <a:rPr lang="en-US" dirty="0">
                <a:solidFill>
                  <a:srgbClr val="C00000"/>
                </a:solidFill>
              </a:rPr>
              <a:t>examples/4_dataframe.R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6222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D095E-2C73-AB76-E839-6A5A8C84A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937A9-6FE4-2FD6-0747-5DD9AE61E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63ACC5-50DE-3398-80D6-C3D3F6A54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02" y="990600"/>
            <a:ext cx="8273796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0626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6BB38A-5CC6-EA72-1F90-2D7CFC3EA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8" y="1457921"/>
            <a:ext cx="8963025" cy="336113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318876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01E4F-3FC7-8CD2-0FE9-96356F213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41B5C-B441-8209-BCEF-5518AD2B3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E2C48-BE4A-35AB-3B66-EB6C6854C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the file </a:t>
            </a:r>
            <a:r>
              <a:rPr lang="en-US" dirty="0">
                <a:solidFill>
                  <a:srgbClr val="C00000"/>
                </a:solidFill>
              </a:rPr>
              <a:t>examples/5_vizualiations.R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282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978CAFB-227C-4EF3-E1F0-F15F3B2D4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8" y="404765"/>
            <a:ext cx="8963025" cy="54674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015916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Hor2colo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9000" y="2514600"/>
            <a:ext cx="2286000" cy="1798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6137205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solidFill>
          <a:schemeClr val="accent5">
            <a:lumMod val="75000"/>
          </a:schemeClr>
        </a:solidFill>
        <a:ln w="12700">
          <a:noFill/>
          <a:miter lim="800000"/>
          <a:headEnd/>
          <a:tailEnd/>
        </a:ln>
      </a:spPr>
      <a:bodyPr anchor="ctr">
        <a:spAutoFit/>
      </a:bodyPr>
      <a:lstStyle>
        <a:defPPr>
          <a:defRPr dirty="0" smtClean="0">
            <a:solidFill>
              <a:srgbClr val="FFFF00"/>
            </a:solidFill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Office Theme">
      <a:majorFont>
        <a:latin typeface="Times New Roman"/>
        <a:ea typeface="MS Pゴシック"/>
        <a:cs typeface=""/>
      </a:majorFont>
      <a:minorFont>
        <a:latin typeface="Times New Roman"/>
        <a:ea typeface="MS P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ゴシック" pitchFamily="-9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ゴシック" pitchFamily="-92" charset="-128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E8EAE9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2F3F2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E8EAE9"/>
        </a:lt1>
        <a:dk2>
          <a:srgbClr val="000000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F2F3F2"/>
        </a:accent3>
        <a:accent4>
          <a:srgbClr val="000000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>
  <documentManagement>
    <Status xmlns="445c0127-97e6-4ecf-8763-62a3d9444353">In Build</Statu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BF38ED958B0D42A1DB4C3166A68EE8" ma:contentTypeVersion="2" ma:contentTypeDescription="Create a new document." ma:contentTypeScope="" ma:versionID="108eeeb8665d8e084ebb628891056e6d">
  <xsd:schema xmlns:xsd="http://www.w3.org/2001/XMLSchema" xmlns:p="http://schemas.microsoft.com/office/2006/metadata/properties" xmlns:ns2="445c0127-97e6-4ecf-8763-62a3d9444353" targetNamespace="http://schemas.microsoft.com/office/2006/metadata/properties" ma:root="true" ma:fieldsID="67fc13db787d5e920f87b6a691640e83" ns2:_="">
    <xsd:import namespace="445c0127-97e6-4ecf-8763-62a3d9444353"/>
    <xsd:element name="properties">
      <xsd:complexType>
        <xsd:sequence>
          <xsd:element name="documentManagement">
            <xsd:complexType>
              <xsd:all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445c0127-97e6-4ecf-8763-62a3d9444353" elementFormDefault="qualified">
    <xsd:import namespace="http://schemas.microsoft.com/office/2006/documentManagement/types"/>
    <xsd:element name="Status" ma:index="8" nillable="true" ma:displayName="Status" ma:default="In Build" ma:format="Dropdown" ma:internalName="Status">
      <xsd:simpleType>
        <xsd:restriction base="dms:Choice">
          <xsd:enumeration value="In Build"/>
          <xsd:enumeration value="Ready for Testing"/>
          <xsd:enumeration value="In Process"/>
          <xsd:enumeration value="Completed - With Errors"/>
          <xsd:enumeration value="Completed - Without Errors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?mso-contentType ?>
<rca:RCAuthoringProperties xmlns:rca="urn:sharePointPublishingRcaProperties">
  <rca:Converter rca:guid="6dfdc5b4-2a28-4a06-b0c6-ad3901e3a807">
    <rca:property rca:type="InheritParentSettings">False</rca:property>
    <rca:property rca:type="SelectedPageLayout">28</rca:property>
    <rca:property rca:type="SelectedPageField">f55c4d88-1f2e-4ad9-aaa8-819af4ee7ee8</rca:property>
    <rca:property rca:type="SelectedStylesField">00000000-0000-0000-0000-000000000000</rca:property>
    <rca:property rca:type="CreatePageWithSourceDocument">True</rca:property>
    <rca:property rca:type="AllowChangeLocationConfig">False</rca:property>
    <rca:property rca:type="ConfiguredPageLocation">https://uofr.rochester.edu</rca:property>
    <rca:property rca:type="CreateSynchronously">False</rca:property>
    <rca:property rca:type="AllowChangeProcessingConfig">False</rca:property>
    <rca:property rca:type="ConverterSpecificSettings"/>
  </rca:Converter>
</rca:RCAuthoring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650506-E0D1-4842-AE4E-075A8982DE02}">
  <ds:schemaRefs>
    <ds:schemaRef ds:uri="http://schemas.openxmlformats.org/package/2006/metadata/core-properties"/>
    <ds:schemaRef ds:uri="http://schemas.microsoft.com/office/2006/documentManagement/types"/>
    <ds:schemaRef ds:uri="http://purl.org/dc/terms/"/>
    <ds:schemaRef ds:uri="445c0127-97e6-4ecf-8763-62a3d9444353"/>
    <ds:schemaRef ds:uri="http://purl.org/dc/dcmitype/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1A2773B-34BB-4B2F-95B1-ED89D23180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5c0127-97e6-4ecf-8763-62a3d944435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590AE3C2-51D7-4772-85EF-99B26ACECB13}">
  <ds:schemaRefs>
    <ds:schemaRef ds:uri="urn:sharePointPublishingRcaProperties"/>
  </ds:schemaRefs>
</ds:datastoreItem>
</file>

<file path=customXml/itemProps4.xml><?xml version="1.0" encoding="utf-8"?>
<ds:datastoreItem xmlns:ds="http://schemas.openxmlformats.org/officeDocument/2006/customXml" ds:itemID="{8CE1EC6E-7DEE-40A7-8470-13A775BFD7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46980</TotalTime>
  <Words>1047</Words>
  <Application>Microsoft Office PowerPoint</Application>
  <PresentationFormat>On-screen Show (4:3)</PresentationFormat>
  <Paragraphs>168</Paragraphs>
  <Slides>31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Times New Roman</vt:lpstr>
      <vt:lpstr>Wingdings</vt:lpstr>
      <vt:lpstr>Office Theme</vt:lpstr>
      <vt:lpstr>1_Office Theme</vt:lpstr>
      <vt:lpstr>Introduction to  R</vt:lpstr>
      <vt:lpstr>Objectives</vt:lpstr>
      <vt:lpstr>About Me</vt:lpstr>
      <vt:lpstr>About You</vt:lpstr>
      <vt:lpstr>Coding Fundamentals: Languages</vt:lpstr>
      <vt:lpstr>Coding Fundamentals:  Compiled vs Interpreted</vt:lpstr>
      <vt:lpstr>What is R?</vt:lpstr>
      <vt:lpstr>Coding Fundamentals: IDEs</vt:lpstr>
      <vt:lpstr>What is RStudio?</vt:lpstr>
      <vt:lpstr>Why R?</vt:lpstr>
      <vt:lpstr>R is Portable</vt:lpstr>
      <vt:lpstr>PowerPoint Presentation</vt:lpstr>
      <vt:lpstr>BlueHive Specifications</vt:lpstr>
      <vt:lpstr>PowerPoint Presentation</vt:lpstr>
      <vt:lpstr>Class Materials</vt:lpstr>
      <vt:lpstr>Install Programs</vt:lpstr>
      <vt:lpstr>RStudio</vt:lpstr>
      <vt:lpstr>Objects and Basic Types</vt:lpstr>
      <vt:lpstr>Composite Data Types</vt:lpstr>
      <vt:lpstr>RStudio</vt:lpstr>
      <vt:lpstr>PowerPoint Presentation</vt:lpstr>
      <vt:lpstr>Ifs, Loops, and Functions</vt:lpstr>
      <vt:lpstr>RStudio</vt:lpstr>
      <vt:lpstr>PowerPoint Presentation</vt:lpstr>
      <vt:lpstr>Importing Files</vt:lpstr>
      <vt:lpstr>RStudio</vt:lpstr>
      <vt:lpstr>PowerPoint Presentation</vt:lpstr>
      <vt:lpstr>PowerPoint Presentation</vt:lpstr>
      <vt:lpstr>RStudio</vt:lpstr>
      <vt:lpstr>PowerPoint Presentation</vt:lpstr>
      <vt:lpstr>PowerPoint Presentation</vt:lpstr>
    </vt:vector>
  </TitlesOfParts>
  <Company>University of Rochester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EDUCAUSE 2007</dc:subject>
  <dc:creator>Jim Dobbertin, Doug Wylie, John Barden</dc:creator>
  <cp:lastModifiedBy>Villegas Cruz, Angel</cp:lastModifiedBy>
  <cp:revision>2723</cp:revision>
  <cp:lastPrinted>2019-03-28T19:47:18Z</cp:lastPrinted>
  <dcterms:created xsi:type="dcterms:W3CDTF">2007-09-21T12:15:26Z</dcterms:created>
  <dcterms:modified xsi:type="dcterms:W3CDTF">2025-08-11T15:04:31Z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Document</vt:lpwstr>
  </property>
  <property fmtid="{D5CDD505-2E9C-101B-9397-08002B2CF9AE}" pid="3" name="ContentTypeId">
    <vt:lpwstr>0x010100F9BF38ED958B0D42A1DB4C3166A68EE8</vt:lpwstr>
  </property>
</Properties>
</file>